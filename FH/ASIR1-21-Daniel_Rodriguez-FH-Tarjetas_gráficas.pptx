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Overpass" panose="020B0604020202020204" charset="0"/>
      <p:regular r:id="rId13"/>
    </p:embeddedFont>
  </p:embeddedFontLst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421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6" d="100"/>
          <a:sy n="66" d="100"/>
        </p:scale>
        <p:origin x="48" y="7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253465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222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222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222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222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222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222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222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222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222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222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svg"/><Relationship Id="rId4" Type="http://schemas.openxmlformats.org/officeDocument/2006/relationships/image" Target="../media/image8.png"/><Relationship Id="rId9" Type="http://schemas.openxmlformats.org/officeDocument/2006/relationships/image" Target="../media/image13.sv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8.png"/><Relationship Id="rId11" Type="http://schemas.openxmlformats.org/officeDocument/2006/relationships/image" Target="../media/image23.svg"/><Relationship Id="rId5" Type="http://schemas.openxmlformats.org/officeDocument/2006/relationships/image" Target="../media/image17.sv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youtube.com/watch?v=C8YtdC8mxTU" TargetMode="External"/><Relationship Id="rId3" Type="http://schemas.openxmlformats.org/officeDocument/2006/relationships/hyperlink" Target="https://www.nvidia.com" TargetMode="External"/><Relationship Id="rId7" Type="http://schemas.openxmlformats.org/officeDocument/2006/relationships/hyperlink" Target="https://www.tomshardware.com/best-picks/gpu-benchmark-graphics-card-comparison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6" Type="http://schemas.openxmlformats.org/officeDocument/2006/relationships/hyperlink" Target="https://www.techpowerup.com/gpu-specs/" TargetMode="External"/><Relationship Id="rId5" Type="http://schemas.openxmlformats.org/officeDocument/2006/relationships/hyperlink" Target="https://www.intel.com/content/www/us/en/products/details/discrete-gpus.html" TargetMode="External"/><Relationship Id="rId10" Type="http://schemas.openxmlformats.org/officeDocument/2006/relationships/hyperlink" Target="https://www.youtube.com/watch?v=3l10o0DYJXg" TargetMode="External"/><Relationship Id="rId4" Type="http://schemas.openxmlformats.org/officeDocument/2006/relationships/hyperlink" Target="https://www.amd.com" TargetMode="External"/><Relationship Id="rId9" Type="http://schemas.openxmlformats.org/officeDocument/2006/relationships/hyperlink" Target="https://www.youtube.com/watch?v=h9Z4oGN89MU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24124" y="2379464"/>
            <a:ext cx="563249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Overpass" panose="020B0604020202020204" charset="0"/>
                <a:ea typeface="Overpass Bold" pitchFamily="34" charset="-122"/>
                <a:cs typeface="Overpass Bold" pitchFamily="34" charset="-120"/>
              </a:rPr>
              <a:t>La Tarjeta Gráfica</a:t>
            </a:r>
            <a:endParaRPr lang="en-US" sz="4400" dirty="0">
              <a:latin typeface="Overpass" panose="020B060402020202020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6324124" y="3442454"/>
            <a:ext cx="7468553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El subsistema gráfico: funcionamiento, características técnicas, mercado actual y tendencias</a:t>
            </a:r>
            <a:endParaRPr lang="en-US" sz="1850" dirty="0"/>
          </a:p>
        </p:txBody>
      </p:sp>
      <p:sp>
        <p:nvSpPr>
          <p:cNvPr id="5" name="Shape 2"/>
          <p:cNvSpPr/>
          <p:nvPr/>
        </p:nvSpPr>
        <p:spPr>
          <a:xfrm>
            <a:off x="6324124" y="4477703"/>
            <a:ext cx="3614618" cy="1372433"/>
          </a:xfrm>
          <a:prstGeom prst="roundRect">
            <a:avLst>
              <a:gd name="adj" fmla="val 7326"/>
            </a:avLst>
          </a:prstGeom>
          <a:solidFill>
            <a:srgbClr val="7E023C"/>
          </a:solidFill>
          <a:ln w="7620">
            <a:solidFill>
              <a:srgbClr val="971B5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571059" y="4724638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E0DF"/>
                </a:solidFill>
                <a:latin typeface="Overpass" panose="020B0604020202020204" charset="0"/>
                <a:ea typeface="Overpass Bold" pitchFamily="34" charset="-122"/>
                <a:cs typeface="Overpass Bold" pitchFamily="34" charset="-120"/>
              </a:rPr>
              <a:t>Autor</a:t>
            </a:r>
            <a:endParaRPr lang="en-US" sz="2200" dirty="0">
              <a:latin typeface="Overpass" panose="020B060402020202020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6571059" y="5220176"/>
            <a:ext cx="3120747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Daniel Rodriguez</a:t>
            </a:r>
            <a:endParaRPr lang="en-US" sz="1850" dirty="0"/>
          </a:p>
        </p:txBody>
      </p:sp>
      <p:sp>
        <p:nvSpPr>
          <p:cNvPr id="8" name="Shape 5"/>
          <p:cNvSpPr/>
          <p:nvPr/>
        </p:nvSpPr>
        <p:spPr>
          <a:xfrm>
            <a:off x="10178058" y="4477703"/>
            <a:ext cx="3614618" cy="1372433"/>
          </a:xfrm>
          <a:prstGeom prst="roundRect">
            <a:avLst>
              <a:gd name="adj" fmla="val 7326"/>
            </a:avLst>
          </a:prstGeom>
          <a:solidFill>
            <a:srgbClr val="7E023C"/>
          </a:solidFill>
          <a:ln w="7620">
            <a:solidFill>
              <a:srgbClr val="971B5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424993" y="4724638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E0DF"/>
                </a:solidFill>
                <a:latin typeface="Overpass" panose="020B0604020202020204" charset="0"/>
                <a:ea typeface="Overpass Bold" pitchFamily="34" charset="-122"/>
                <a:cs typeface="Overpass Bold" pitchFamily="34" charset="-120"/>
              </a:rPr>
              <a:t>Curso</a:t>
            </a:r>
            <a:endParaRPr lang="en-US" sz="2200" dirty="0">
              <a:latin typeface="Overpass" panose="020B0604020202020204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10424993" y="5220176"/>
            <a:ext cx="3120747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1ºASIR</a:t>
            </a:r>
            <a:endParaRPr lang="en-US" sz="1850" dirty="0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CE12AF8F-16B1-898A-CFC8-E146F980FF2A}"/>
              </a:ext>
            </a:extLst>
          </p:cNvPr>
          <p:cNvSpPr/>
          <p:nvPr/>
        </p:nvSpPr>
        <p:spPr>
          <a:xfrm>
            <a:off x="12495153" y="7358777"/>
            <a:ext cx="2101174" cy="766048"/>
          </a:xfrm>
          <a:prstGeom prst="rect">
            <a:avLst/>
          </a:prstGeom>
          <a:solidFill>
            <a:srgbClr val="242121"/>
          </a:solidFill>
          <a:ln>
            <a:solidFill>
              <a:srgbClr val="24212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861655"/>
            <a:ext cx="563249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Overpass" panose="020B0604020202020204" charset="0"/>
                <a:ea typeface="Overpass Bold" pitchFamily="34" charset="-122"/>
                <a:cs typeface="Overpass Bold" pitchFamily="34" charset="-120"/>
              </a:rPr>
              <a:t>Índice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37724" y="2044422"/>
            <a:ext cx="239316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Overpass" panose="020B0604020202020204" charset="0"/>
                <a:ea typeface="Overpass Light" pitchFamily="34" charset="-122"/>
                <a:cs typeface="Overpass Light" pitchFamily="34" charset="-120"/>
              </a:rPr>
              <a:t>01</a:t>
            </a:r>
            <a:endParaRPr lang="en-US" sz="1850" dirty="0"/>
          </a:p>
        </p:txBody>
      </p:sp>
      <p:sp>
        <p:nvSpPr>
          <p:cNvPr id="4" name="Shape 2"/>
          <p:cNvSpPr/>
          <p:nvPr/>
        </p:nvSpPr>
        <p:spPr>
          <a:xfrm>
            <a:off x="837724" y="2420779"/>
            <a:ext cx="6357818" cy="30480"/>
          </a:xfrm>
          <a:prstGeom prst="rect">
            <a:avLst/>
          </a:prstGeom>
          <a:solidFill>
            <a:srgbClr val="F20374"/>
          </a:solidFill>
          <a:ln/>
        </p:spPr>
      </p:sp>
      <p:sp>
        <p:nvSpPr>
          <p:cNvPr id="5" name="Text 3"/>
          <p:cNvSpPr/>
          <p:nvPr/>
        </p:nvSpPr>
        <p:spPr>
          <a:xfrm>
            <a:off x="837724" y="2601397"/>
            <a:ext cx="3423642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E0DF"/>
                </a:solidFill>
                <a:latin typeface="Overpass" panose="020B0604020202020204" charset="0"/>
                <a:ea typeface="Overpass Bold" pitchFamily="34" charset="-122"/>
                <a:cs typeface="Overpass Bold" pitchFamily="34" charset="-120"/>
              </a:rPr>
              <a:t>¿Qué es la tarjeta gráfica?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37724" y="3096935"/>
            <a:ext cx="6357818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Función básica y componentes principales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7434858" y="2044422"/>
            <a:ext cx="239316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Overpass" panose="020B0604020202020204" charset="0"/>
                <a:ea typeface="Overpass Light" pitchFamily="34" charset="-122"/>
                <a:cs typeface="Overpass Light" pitchFamily="34" charset="-120"/>
              </a:rPr>
              <a:t>02</a:t>
            </a:r>
            <a:endParaRPr lang="en-US" sz="1850" dirty="0"/>
          </a:p>
        </p:txBody>
      </p:sp>
      <p:sp>
        <p:nvSpPr>
          <p:cNvPr id="8" name="Shape 6"/>
          <p:cNvSpPr/>
          <p:nvPr/>
        </p:nvSpPr>
        <p:spPr>
          <a:xfrm>
            <a:off x="7434858" y="2420779"/>
            <a:ext cx="6357818" cy="30480"/>
          </a:xfrm>
          <a:prstGeom prst="rect">
            <a:avLst/>
          </a:prstGeom>
          <a:solidFill>
            <a:srgbClr val="F20374"/>
          </a:solidFill>
          <a:ln/>
        </p:spPr>
      </p:sp>
      <p:sp>
        <p:nvSpPr>
          <p:cNvPr id="9" name="Text 7"/>
          <p:cNvSpPr/>
          <p:nvPr/>
        </p:nvSpPr>
        <p:spPr>
          <a:xfrm>
            <a:off x="7434858" y="2601397"/>
            <a:ext cx="512254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E0DF"/>
                </a:solidFill>
                <a:latin typeface="Overpass" panose="020B0604020202020204" charset="0"/>
                <a:ea typeface="Overpass Bold" pitchFamily="34" charset="-122"/>
                <a:cs typeface="Overpass Bold" pitchFamily="34" charset="-120"/>
              </a:rPr>
              <a:t>Frame Buffer, Frames y Modos Gráficos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434858" y="3096935"/>
            <a:ext cx="6357818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Resolución, color y tasa de refresco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837724" y="3898702"/>
            <a:ext cx="239316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Overpass" panose="020B0604020202020204" charset="0"/>
                <a:ea typeface="Overpass Light" pitchFamily="34" charset="-122"/>
                <a:cs typeface="Overpass Light" pitchFamily="34" charset="-120"/>
              </a:rPr>
              <a:t>03</a:t>
            </a:r>
            <a:endParaRPr lang="en-US" sz="1850" dirty="0"/>
          </a:p>
        </p:txBody>
      </p:sp>
      <p:sp>
        <p:nvSpPr>
          <p:cNvPr id="12" name="Shape 10"/>
          <p:cNvSpPr/>
          <p:nvPr/>
        </p:nvSpPr>
        <p:spPr>
          <a:xfrm>
            <a:off x="837724" y="4275058"/>
            <a:ext cx="6357818" cy="30480"/>
          </a:xfrm>
          <a:prstGeom prst="rect">
            <a:avLst/>
          </a:prstGeom>
          <a:solidFill>
            <a:srgbClr val="F20374"/>
          </a:solidFill>
          <a:ln/>
        </p:spPr>
      </p:sp>
      <p:sp>
        <p:nvSpPr>
          <p:cNvPr id="13" name="Text 11"/>
          <p:cNvSpPr/>
          <p:nvPr/>
        </p:nvSpPr>
        <p:spPr>
          <a:xfrm>
            <a:off x="837724" y="4455676"/>
            <a:ext cx="3072646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E0DF"/>
                </a:solidFill>
                <a:latin typeface="Overpass" panose="020B0604020202020204" charset="0"/>
                <a:ea typeface="Overpass Bold" pitchFamily="34" charset="-122"/>
                <a:cs typeface="Overpass Bold" pitchFamily="34" charset="-120"/>
              </a:rPr>
              <a:t>Conexiones y Anatomía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37724" y="4951214"/>
            <a:ext cx="6357818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DVI, HDMI, DisplayPort, PCIe y conectores</a:t>
            </a:r>
            <a:endParaRPr lang="en-US" sz="1850" dirty="0"/>
          </a:p>
        </p:txBody>
      </p:sp>
      <p:sp>
        <p:nvSpPr>
          <p:cNvPr id="15" name="Text 13"/>
          <p:cNvSpPr/>
          <p:nvPr/>
        </p:nvSpPr>
        <p:spPr>
          <a:xfrm>
            <a:off x="7434858" y="3898702"/>
            <a:ext cx="239316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Overpass" panose="020B0604020202020204" charset="0"/>
                <a:ea typeface="Overpass Light" pitchFamily="34" charset="-122"/>
                <a:cs typeface="Overpass Light" pitchFamily="34" charset="-120"/>
              </a:rPr>
              <a:t>04</a:t>
            </a:r>
            <a:endParaRPr lang="en-US" sz="1850" dirty="0"/>
          </a:p>
        </p:txBody>
      </p:sp>
      <p:sp>
        <p:nvSpPr>
          <p:cNvPr id="16" name="Shape 14"/>
          <p:cNvSpPr/>
          <p:nvPr/>
        </p:nvSpPr>
        <p:spPr>
          <a:xfrm>
            <a:off x="7434858" y="4275058"/>
            <a:ext cx="6357818" cy="30480"/>
          </a:xfrm>
          <a:prstGeom prst="rect">
            <a:avLst/>
          </a:prstGeom>
          <a:solidFill>
            <a:srgbClr val="F20374"/>
          </a:solidFill>
          <a:ln/>
        </p:spPr>
      </p:sp>
      <p:sp>
        <p:nvSpPr>
          <p:cNvPr id="17" name="Text 15"/>
          <p:cNvSpPr/>
          <p:nvPr/>
        </p:nvSpPr>
        <p:spPr>
          <a:xfrm>
            <a:off x="7434858" y="4455676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E0DF"/>
                </a:solidFill>
                <a:latin typeface="Overpass" panose="020B0604020202020204" charset="0"/>
                <a:ea typeface="Overpass Bold" pitchFamily="34" charset="-122"/>
                <a:cs typeface="Overpass Bold" pitchFamily="34" charset="-120"/>
              </a:rPr>
              <a:t>Refrigeración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434858" y="4951214"/>
            <a:ext cx="6357818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Sistemas activos, pasivos y líquidos</a:t>
            </a:r>
            <a:endParaRPr lang="en-US" sz="1850" dirty="0"/>
          </a:p>
        </p:txBody>
      </p:sp>
      <p:sp>
        <p:nvSpPr>
          <p:cNvPr id="19" name="Text 17"/>
          <p:cNvSpPr/>
          <p:nvPr/>
        </p:nvSpPr>
        <p:spPr>
          <a:xfrm>
            <a:off x="837724" y="5752981"/>
            <a:ext cx="239316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Overpass" panose="020B0604020202020204" charset="0"/>
                <a:ea typeface="Overpass Light" pitchFamily="34" charset="-122"/>
                <a:cs typeface="Overpass Light" pitchFamily="34" charset="-120"/>
              </a:rPr>
              <a:t>05</a:t>
            </a:r>
            <a:endParaRPr lang="en-US" sz="1850" dirty="0"/>
          </a:p>
        </p:txBody>
      </p:sp>
      <p:sp>
        <p:nvSpPr>
          <p:cNvPr id="20" name="Shape 18"/>
          <p:cNvSpPr/>
          <p:nvPr/>
        </p:nvSpPr>
        <p:spPr>
          <a:xfrm>
            <a:off x="837724" y="6129338"/>
            <a:ext cx="6357818" cy="30480"/>
          </a:xfrm>
          <a:prstGeom prst="rect">
            <a:avLst/>
          </a:prstGeom>
          <a:solidFill>
            <a:srgbClr val="F20374"/>
          </a:solidFill>
          <a:ln/>
        </p:spPr>
      </p:sp>
      <p:sp>
        <p:nvSpPr>
          <p:cNvPr id="21" name="Text 19"/>
          <p:cNvSpPr/>
          <p:nvPr/>
        </p:nvSpPr>
        <p:spPr>
          <a:xfrm>
            <a:off x="837724" y="6309955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E0DF"/>
                </a:solidFill>
                <a:latin typeface="Overpass" panose="020B0604020202020204" charset="0"/>
                <a:ea typeface="Overpass Bold" pitchFamily="34" charset="-122"/>
                <a:cs typeface="Overpass Bold" pitchFamily="34" charset="-120"/>
              </a:rPr>
              <a:t>Mercado Actual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837724" y="6805493"/>
            <a:ext cx="6357818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Comparativa por fabricante y gama</a:t>
            </a:r>
            <a:endParaRPr lang="en-US" sz="1850" dirty="0"/>
          </a:p>
        </p:txBody>
      </p:sp>
      <p:sp>
        <p:nvSpPr>
          <p:cNvPr id="23" name="Text 21"/>
          <p:cNvSpPr/>
          <p:nvPr/>
        </p:nvSpPr>
        <p:spPr>
          <a:xfrm>
            <a:off x="7434858" y="5752981"/>
            <a:ext cx="239316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Overpass" panose="020B0604020202020204" charset="0"/>
                <a:ea typeface="Overpass Light" pitchFamily="34" charset="-122"/>
                <a:cs typeface="Overpass Light" pitchFamily="34" charset="-120"/>
              </a:rPr>
              <a:t>06</a:t>
            </a:r>
            <a:endParaRPr lang="en-US" sz="1850" dirty="0"/>
          </a:p>
        </p:txBody>
      </p:sp>
      <p:sp>
        <p:nvSpPr>
          <p:cNvPr id="24" name="Shape 22"/>
          <p:cNvSpPr/>
          <p:nvPr/>
        </p:nvSpPr>
        <p:spPr>
          <a:xfrm>
            <a:off x="7434858" y="6129338"/>
            <a:ext cx="6357818" cy="30480"/>
          </a:xfrm>
          <a:prstGeom prst="rect">
            <a:avLst/>
          </a:prstGeom>
          <a:solidFill>
            <a:srgbClr val="F20374"/>
          </a:solidFill>
          <a:ln/>
        </p:spPr>
      </p:sp>
      <p:sp>
        <p:nvSpPr>
          <p:cNvPr id="25" name="Text 23"/>
          <p:cNvSpPr/>
          <p:nvPr/>
        </p:nvSpPr>
        <p:spPr>
          <a:xfrm>
            <a:off x="7434858" y="6309955"/>
            <a:ext cx="3318153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E0DF"/>
                </a:solidFill>
                <a:latin typeface="Overpass" panose="020B0604020202020204" charset="0"/>
                <a:ea typeface="Overpass Bold" pitchFamily="34" charset="-122"/>
                <a:cs typeface="Overpass Bold" pitchFamily="34" charset="-120"/>
              </a:rPr>
              <a:t>Tendencias y Bibliografía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7434858" y="6805493"/>
            <a:ext cx="6357818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Hacia dónde va la tecnología</a:t>
            </a:r>
            <a:endParaRPr lang="en-US" sz="1850" dirty="0"/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4D160382-2C39-A0F3-5116-7AA14865FB82}"/>
              </a:ext>
            </a:extLst>
          </p:cNvPr>
          <p:cNvSpPr/>
          <p:nvPr/>
        </p:nvSpPr>
        <p:spPr>
          <a:xfrm>
            <a:off x="12495153" y="7358777"/>
            <a:ext cx="2101174" cy="766048"/>
          </a:xfrm>
          <a:prstGeom prst="rect">
            <a:avLst/>
          </a:prstGeom>
          <a:solidFill>
            <a:srgbClr val="242121"/>
          </a:solidFill>
          <a:ln>
            <a:solidFill>
              <a:srgbClr val="24212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4376" y="814268"/>
            <a:ext cx="1136213" cy="371118"/>
          </a:xfrm>
          <a:prstGeom prst="roundRect">
            <a:avLst>
              <a:gd name="adj" fmla="val 18740"/>
            </a:avLst>
          </a:prstGeom>
          <a:solidFill>
            <a:srgbClr val="4C0124"/>
          </a:solidFill>
          <a:ln/>
        </p:spPr>
      </p:sp>
      <p:sp>
        <p:nvSpPr>
          <p:cNvPr id="3" name="Text 1"/>
          <p:cNvSpPr/>
          <p:nvPr/>
        </p:nvSpPr>
        <p:spPr>
          <a:xfrm>
            <a:off x="848558" y="876300"/>
            <a:ext cx="887849" cy="247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CAPÍTULO 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24376" y="1256943"/>
            <a:ext cx="6047184" cy="608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5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Overpass" panose="020B0604020202020204" charset="0"/>
                <a:ea typeface="Overpass Bold" pitchFamily="34" charset="-122"/>
                <a:cs typeface="Overpass Bold" pitchFamily="34" charset="-120"/>
              </a:rPr>
              <a:t>¿Qué es la Tarjeta Gráfica?</a:t>
            </a:r>
            <a:endParaRPr lang="en-US" sz="3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1516" y="2843689"/>
            <a:ext cx="6537008" cy="386191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28108" y="2313027"/>
            <a:ext cx="2435066" cy="304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Overpass" panose="020B0604020202020204" charset="0"/>
                <a:ea typeface="Overpass Bold" pitchFamily="34" charset="-122"/>
                <a:cs typeface="Overpass Bold" pitchFamily="34" charset="-120"/>
              </a:rPr>
              <a:t>Función principal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9628108" y="2796302"/>
            <a:ext cx="4285417" cy="12353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Convierte datos binarios del bus en señales aptas para el monitor. El procesador central envía instrucciones vía </a:t>
            </a:r>
            <a:r>
              <a:rPr lang="en-US" sz="1600" b="1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PCI Express</a:t>
            </a:r>
            <a:r>
              <a:rPr lang="en-US" sz="16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 y la GPU las ejecuta.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628108" y="4210645"/>
            <a:ext cx="2435066" cy="304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Overpass" panose="020B0604020202020204" charset="0"/>
                <a:ea typeface="Overpass Bold" pitchFamily="34" charset="-122"/>
                <a:cs typeface="Overpass Bold" pitchFamily="34" charset="-120"/>
              </a:rPr>
              <a:t>Componentes clave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9628108" y="4693920"/>
            <a:ext cx="4285417" cy="26586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GPU: procesa todas las instrucciones gráficas</a:t>
            </a:r>
            <a:endParaRPr lang="en-US" sz="1600" dirty="0"/>
          </a:p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Memoria gráfica: almacena imágenes y texturas</a:t>
            </a:r>
            <a:endParaRPr lang="en-US" sz="1600" dirty="0"/>
          </a:p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RAMDAC: convierte señal digital a analógica (VGA)</a:t>
            </a:r>
            <a:endParaRPr lang="en-US" sz="1600" dirty="0"/>
          </a:p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Frame buffer: almacena la imagen antes de enviarla al monitor</a:t>
            </a:r>
            <a:endParaRPr lang="en-US" sz="1600" dirty="0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27FD9D8E-66DD-F089-E356-BB4DB665DF52}"/>
              </a:ext>
            </a:extLst>
          </p:cNvPr>
          <p:cNvSpPr/>
          <p:nvPr/>
        </p:nvSpPr>
        <p:spPr>
          <a:xfrm>
            <a:off x="12495153" y="7358777"/>
            <a:ext cx="2101174" cy="766048"/>
          </a:xfrm>
          <a:prstGeom prst="rect">
            <a:avLst/>
          </a:prstGeom>
          <a:solidFill>
            <a:srgbClr val="242121"/>
          </a:solidFill>
          <a:ln>
            <a:solidFill>
              <a:srgbClr val="24212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8500" y="1151692"/>
            <a:ext cx="879634" cy="255984"/>
          </a:xfrm>
          <a:prstGeom prst="roundRect">
            <a:avLst>
              <a:gd name="adj" fmla="val 20320"/>
            </a:avLst>
          </a:prstGeom>
          <a:solidFill>
            <a:srgbClr val="4C0124"/>
          </a:solidFill>
          <a:ln/>
        </p:spPr>
      </p:sp>
      <p:sp>
        <p:nvSpPr>
          <p:cNvPr id="3" name="Text 1"/>
          <p:cNvSpPr/>
          <p:nvPr/>
        </p:nvSpPr>
        <p:spPr>
          <a:xfrm>
            <a:off x="2381369" y="1198126"/>
            <a:ext cx="693896" cy="163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CAPÍTULO 2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2288500" y="1447681"/>
            <a:ext cx="6628567" cy="455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850" b="1" dirty="0">
                <a:solidFill>
                  <a:srgbClr val="FFFFFF"/>
                </a:solidFill>
                <a:latin typeface="Overpass" panose="020B0604020202020204" charset="0"/>
                <a:ea typeface="Overpass Bold" pitchFamily="34" charset="-122"/>
                <a:cs typeface="Overpass Bold" pitchFamily="34" charset="-120"/>
              </a:rPr>
              <a:t>Frame Buffer, Frames y Modos Gráficos</a:t>
            </a:r>
            <a:endParaRPr lang="en-US" sz="28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9474" y="2516505"/>
            <a:ext cx="4160520" cy="2255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288500" y="4884539"/>
            <a:ext cx="6402467" cy="407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El frame buffer almacena el mapa de bits de la imagen. Una vez completa, se transfiere al monitor de forma muy rápida.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9076253" y="2153007"/>
            <a:ext cx="1821180" cy="227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Overpass" panose="020B0604020202020204" charset="0"/>
                <a:ea typeface="Overpass Bold" pitchFamily="34" charset="-122"/>
                <a:cs typeface="Overpass Bold" pitchFamily="34" charset="-120"/>
              </a:rPr>
              <a:t>¿Qué son los frames?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076253" y="2480667"/>
            <a:ext cx="3273147" cy="1293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2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Imágenes sucesivas que crean sensación de movimiento</a:t>
            </a:r>
            <a:endParaRPr lang="en-US" sz="1200" dirty="0"/>
          </a:p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2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Mínimo perceptible: </a:t>
            </a:r>
            <a:r>
              <a:rPr lang="en-US" sz="1200" b="1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24–29 fps</a:t>
            </a:r>
            <a:r>
              <a:rPr lang="en-US" sz="12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; óptimo: </a:t>
            </a:r>
            <a:r>
              <a:rPr lang="en-US" sz="1200" b="1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60 fps</a:t>
            </a:r>
            <a:endParaRPr lang="en-US" sz="1200" dirty="0"/>
          </a:p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2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En juegos, los fps dependen de la potencia del equipo y la GPU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076253" y="3873698"/>
            <a:ext cx="1821180" cy="227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Overpass" panose="020B0604020202020204" charset="0"/>
                <a:ea typeface="Overpass Bold" pitchFamily="34" charset="-122"/>
                <a:cs typeface="Overpass Bold" pitchFamily="34" charset="-120"/>
              </a:rPr>
              <a:t>Modos gráficos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9076253" y="4201358"/>
            <a:ext cx="3273147" cy="1496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200" b="1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Resolución:</a:t>
            </a:r>
            <a:r>
              <a:rPr lang="en-US" sz="12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 número de píxeles (ej. Full HD: 1.920×1.080)</a:t>
            </a:r>
            <a:endParaRPr lang="en-US" sz="1200" dirty="0"/>
          </a:p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200" b="1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Profundidad de color:</a:t>
            </a:r>
            <a:r>
              <a:rPr lang="en-US" sz="12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 24 bits = 16,7 M colores («color real»); 32 bits añade canal alfa (transparencia)</a:t>
            </a:r>
            <a:endParaRPr lang="en-US" sz="1200" dirty="0"/>
          </a:p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200" b="1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Tasa de refresco:</a:t>
            </a:r>
            <a:r>
              <a:rPr lang="en-US" sz="12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 60 Hz estándar; 120 Hz para 3D estereoscópico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2288500" y="5923121"/>
            <a:ext cx="3267670" cy="5107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000"/>
              </a:lnSpc>
              <a:buNone/>
            </a:pPr>
            <a:r>
              <a:rPr lang="en-US" sz="4000" b="1" dirty="0">
                <a:solidFill>
                  <a:srgbClr val="E5E0DF"/>
                </a:solidFill>
                <a:latin typeface="Overpass" panose="020B0604020202020204" charset="0"/>
                <a:ea typeface="Overpass Bold" pitchFamily="34" charset="-122"/>
                <a:cs typeface="Overpass Bold" pitchFamily="34" charset="-120"/>
              </a:rPr>
              <a:t>60</a:t>
            </a:r>
            <a:endParaRPr lang="en-US" sz="4000" dirty="0"/>
          </a:p>
        </p:txBody>
      </p:sp>
      <p:sp>
        <p:nvSpPr>
          <p:cNvPr id="12" name="Text 9"/>
          <p:cNvSpPr/>
          <p:nvPr/>
        </p:nvSpPr>
        <p:spPr>
          <a:xfrm>
            <a:off x="3011686" y="6586299"/>
            <a:ext cx="1821180" cy="227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E5E0DF"/>
                </a:solidFill>
                <a:latin typeface="Overpass" panose="020B0604020202020204" charset="0"/>
                <a:ea typeface="Overpass Bold" pitchFamily="34" charset="-122"/>
                <a:cs typeface="Overpass Bold" pitchFamily="34" charset="-120"/>
              </a:rPr>
              <a:t>fps óptimos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2288500" y="6873954"/>
            <a:ext cx="3267670" cy="203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Para movimiento fluido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681305" y="5923121"/>
            <a:ext cx="3267670" cy="5107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000"/>
              </a:lnSpc>
              <a:buNone/>
            </a:pPr>
            <a:r>
              <a:rPr lang="en-US" sz="4000" b="1" dirty="0">
                <a:solidFill>
                  <a:srgbClr val="E5E0DF"/>
                </a:solidFill>
                <a:latin typeface="Overpass" panose="020B0604020202020204" charset="0"/>
                <a:ea typeface="Overpass Bold" pitchFamily="34" charset="-122"/>
                <a:cs typeface="Overpass Bold" pitchFamily="34" charset="-120"/>
              </a:rPr>
              <a:t>16.7M</a:t>
            </a:r>
            <a:endParaRPr lang="en-US" sz="4000" dirty="0"/>
          </a:p>
        </p:txBody>
      </p:sp>
      <p:sp>
        <p:nvSpPr>
          <p:cNvPr id="15" name="Text 12"/>
          <p:cNvSpPr/>
          <p:nvPr/>
        </p:nvSpPr>
        <p:spPr>
          <a:xfrm>
            <a:off x="6404491" y="6586299"/>
            <a:ext cx="1821180" cy="227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E5E0DF"/>
                </a:solidFill>
                <a:latin typeface="Overpass" panose="020B0604020202020204" charset="0"/>
                <a:ea typeface="Overpass Bold" pitchFamily="34" charset="-122"/>
                <a:cs typeface="Overpass Bold" pitchFamily="34" charset="-120"/>
              </a:rPr>
              <a:t>Colores (24 bits)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5681305" y="6873954"/>
            <a:ext cx="3267670" cy="203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«Color real»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9074110" y="5923121"/>
            <a:ext cx="3267789" cy="5107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000"/>
              </a:lnSpc>
              <a:buNone/>
            </a:pPr>
            <a:r>
              <a:rPr lang="en-US" sz="4000" b="1" dirty="0">
                <a:solidFill>
                  <a:srgbClr val="E5E0DF"/>
                </a:solidFill>
                <a:latin typeface="Overpass" panose="020B0604020202020204" charset="0"/>
                <a:ea typeface="Overpass Bold" pitchFamily="34" charset="-122"/>
                <a:cs typeface="Overpass Bold" pitchFamily="34" charset="-120"/>
              </a:rPr>
              <a:t>120Hz</a:t>
            </a:r>
            <a:endParaRPr lang="en-US" sz="4000" dirty="0"/>
          </a:p>
        </p:txBody>
      </p:sp>
      <p:sp>
        <p:nvSpPr>
          <p:cNvPr id="18" name="Text 15"/>
          <p:cNvSpPr/>
          <p:nvPr/>
        </p:nvSpPr>
        <p:spPr>
          <a:xfrm>
            <a:off x="9797415" y="6586299"/>
            <a:ext cx="1821180" cy="227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E5E0DF"/>
                </a:solidFill>
                <a:latin typeface="Overpass" panose="020B0604020202020204" charset="0"/>
                <a:ea typeface="Overpass Bold" pitchFamily="34" charset="-122"/>
                <a:cs typeface="Overpass Bold" pitchFamily="34" charset="-120"/>
              </a:rPr>
              <a:t>Refresco 3D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9074110" y="6873954"/>
            <a:ext cx="3267789" cy="203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Estereoscópico</a:t>
            </a:r>
            <a:endParaRPr lang="en-US" sz="1200" dirty="0"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754D4FEF-FC14-9BBB-4A06-374EA47B7D0C}"/>
              </a:ext>
            </a:extLst>
          </p:cNvPr>
          <p:cNvSpPr/>
          <p:nvPr/>
        </p:nvSpPr>
        <p:spPr>
          <a:xfrm>
            <a:off x="12495153" y="7358777"/>
            <a:ext cx="2101174" cy="766048"/>
          </a:xfrm>
          <a:prstGeom prst="rect">
            <a:avLst/>
          </a:prstGeom>
          <a:solidFill>
            <a:srgbClr val="242121"/>
          </a:solidFill>
          <a:ln>
            <a:solidFill>
              <a:srgbClr val="24212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78211" y="1151811"/>
            <a:ext cx="949285" cy="282297"/>
          </a:xfrm>
          <a:prstGeom prst="roundRect">
            <a:avLst>
              <a:gd name="adj" fmla="val 19930"/>
            </a:avLst>
          </a:prstGeom>
          <a:solidFill>
            <a:srgbClr val="4C0124"/>
          </a:solidFill>
          <a:ln/>
        </p:spPr>
      </p:sp>
      <p:sp>
        <p:nvSpPr>
          <p:cNvPr id="3" name="Text 1"/>
          <p:cNvSpPr/>
          <p:nvPr/>
        </p:nvSpPr>
        <p:spPr>
          <a:xfrm>
            <a:off x="1978581" y="1201936"/>
            <a:ext cx="748546" cy="182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CAPÍTULO 3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878211" y="1480899"/>
            <a:ext cx="8107680" cy="4924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5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Overpass" panose="020B0604020202020204" charset="0"/>
                <a:ea typeface="Overpass Bold" pitchFamily="34" charset="-122"/>
                <a:cs typeface="Overpass Bold" pitchFamily="34" charset="-120"/>
              </a:rPr>
              <a:t>Conexiones y Anatomía de la Tarjeta Gráfica</a:t>
            </a:r>
            <a:endParaRPr lang="en-US" sz="31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0378" y="2906435"/>
            <a:ext cx="4640580" cy="3413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219248" y="2265997"/>
            <a:ext cx="2320290" cy="2462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Overpass" panose="020B0604020202020204" charset="0"/>
                <a:ea typeface="Overpass Bold" pitchFamily="34" charset="-122"/>
                <a:cs typeface="Overpass Bold" pitchFamily="34" charset="-120"/>
              </a:rPr>
              <a:t>Componentes principales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9219248" y="2629257"/>
            <a:ext cx="3540323" cy="2211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300" b="1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GPU</a:t>
            </a:r>
            <a:r>
              <a:rPr lang="en-US" sz="13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: corazón del sistema (mono o multi-GPU)</a:t>
            </a:r>
            <a:endParaRPr lang="en-US" sz="130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300" b="1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Memoria GDDR5</a:t>
            </a:r>
            <a:r>
              <a:rPr lang="en-US" sz="13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: de 512 MB a 3 GB según modelo</a:t>
            </a:r>
            <a:endParaRPr lang="en-US" sz="130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300" b="1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Conector PCIe 2.0/3.0 16x</a:t>
            </a:r>
            <a:r>
              <a:rPr lang="en-US" sz="13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: ranura de la placa base</a:t>
            </a:r>
            <a:endParaRPr lang="en-US" sz="130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300" b="1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CrossFire / SLI</a:t>
            </a:r>
            <a:r>
              <a:rPr lang="en-US" sz="13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: interconexión multi-GPU</a:t>
            </a:r>
            <a:endParaRPr lang="en-US" sz="130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300" b="1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Alimentación adicional</a:t>
            </a:r>
            <a:r>
              <a:rPr lang="en-US" sz="13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: hasta 300 W (PCIe 2.0)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9219248" y="4957882"/>
            <a:ext cx="2182058" cy="2462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Overpass" panose="020B0604020202020204" charset="0"/>
                <a:ea typeface="Overpass Bold" pitchFamily="34" charset="-122"/>
                <a:cs typeface="Overpass Bold" pitchFamily="34" charset="-120"/>
              </a:rPr>
              <a:t>Estándares de conexión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9219248" y="5321141"/>
            <a:ext cx="3540323" cy="17155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300" b="1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DVI</a:t>
            </a:r>
            <a:r>
              <a:rPr lang="en-US" sz="13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 (hasta 7,4 Gb/s, 2.560×1.600)</a:t>
            </a:r>
            <a:endParaRPr lang="en-US" sz="130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300" b="1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HDMI 1.4</a:t>
            </a:r>
            <a:r>
              <a:rPr lang="en-US" sz="13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 (10,2 Gb/s, 4K a 24 fps, audio + HDCP)</a:t>
            </a:r>
            <a:endParaRPr lang="en-US" sz="130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300" b="1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DisplayPort 1.2</a:t>
            </a:r>
            <a:r>
              <a:rPr lang="en-US" sz="13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 (21,6 Gb/s, soporte USB 2.0 y Ethernet)</a:t>
            </a:r>
            <a:endParaRPr lang="en-US" sz="130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300" b="1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PCIe 3.0</a:t>
            </a:r>
            <a:r>
              <a:rPr lang="en-US" sz="13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: 16 GB/s por dirección, el doble que PCIe 2.0</a:t>
            </a:r>
            <a:endParaRPr lang="en-US" sz="1300" dirty="0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68D0313D-0F5A-467F-D4A4-A8079EDC4580}"/>
              </a:ext>
            </a:extLst>
          </p:cNvPr>
          <p:cNvSpPr/>
          <p:nvPr/>
        </p:nvSpPr>
        <p:spPr>
          <a:xfrm>
            <a:off x="12495153" y="7358777"/>
            <a:ext cx="2101174" cy="766048"/>
          </a:xfrm>
          <a:prstGeom prst="rect">
            <a:avLst/>
          </a:prstGeom>
          <a:solidFill>
            <a:srgbClr val="242121"/>
          </a:solidFill>
          <a:ln>
            <a:solidFill>
              <a:srgbClr val="24212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068973" y="1511618"/>
            <a:ext cx="946666" cy="280392"/>
          </a:xfrm>
          <a:prstGeom prst="roundRect">
            <a:avLst>
              <a:gd name="adj" fmla="val 19949"/>
            </a:avLst>
          </a:prstGeom>
          <a:solidFill>
            <a:srgbClr val="4C0124"/>
          </a:solidFill>
          <a:ln/>
        </p:spPr>
      </p:sp>
      <p:sp>
        <p:nvSpPr>
          <p:cNvPr id="4" name="Text 1"/>
          <p:cNvSpPr/>
          <p:nvPr/>
        </p:nvSpPr>
        <p:spPr>
          <a:xfrm>
            <a:off x="6168747" y="1561505"/>
            <a:ext cx="747117" cy="180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CAPÍTULO 4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6068973" y="1838206"/>
            <a:ext cx="6267926" cy="4895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50"/>
              </a:lnSpc>
              <a:buNone/>
            </a:pPr>
            <a:r>
              <a:rPr lang="en-US" sz="3050" b="1" dirty="0">
                <a:solidFill>
                  <a:srgbClr val="FFFFFF"/>
                </a:solidFill>
                <a:latin typeface="Overpass" panose="020B0604020202020204" charset="0"/>
                <a:ea typeface="Overpass Bold" pitchFamily="34" charset="-122"/>
                <a:cs typeface="Overpass Bold" pitchFamily="34" charset="-120"/>
              </a:rPr>
              <a:t>Refrigeración de la Tarjeta Gráfica</a:t>
            </a:r>
            <a:endParaRPr lang="en-US" sz="30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68973" y="2501384"/>
            <a:ext cx="416123" cy="41612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068973" y="3062168"/>
            <a:ext cx="2467689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E5E0DF"/>
                </a:solidFill>
                <a:latin typeface="Overpass" panose="020B0604020202020204" charset="0"/>
                <a:ea typeface="Overpass Bold" pitchFamily="34" charset="-122"/>
                <a:cs typeface="Overpass Bold" pitchFamily="34" charset="-120"/>
              </a:rPr>
              <a:t>Sistema activo (ventilador)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6068973" y="3376374"/>
            <a:ext cx="7978854" cy="4514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Uno o varios ventiladores sobre disipador metálico. Económico pero puede acumular polvo, reduciendo eficiencia. Limpiar periódicamente.</a:t>
            </a:r>
            <a:endParaRPr lang="en-US" sz="13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068973" y="4059317"/>
            <a:ext cx="416123" cy="41612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068973" y="4620101"/>
            <a:ext cx="1958459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E5E0DF"/>
                </a:solidFill>
                <a:latin typeface="Overpass" panose="020B0604020202020204" charset="0"/>
                <a:ea typeface="Overpass Bold" pitchFamily="34" charset="-122"/>
                <a:cs typeface="Overpass Bold" pitchFamily="34" charset="-120"/>
              </a:rPr>
              <a:t>Sistema pasivo</a:t>
            </a:r>
            <a:endParaRPr lang="en-US" sz="1500" dirty="0"/>
          </a:p>
        </p:txBody>
      </p:sp>
      <p:sp>
        <p:nvSpPr>
          <p:cNvPr id="11" name="Text 6"/>
          <p:cNvSpPr/>
          <p:nvPr/>
        </p:nvSpPr>
        <p:spPr>
          <a:xfrm>
            <a:off x="6068973" y="4934307"/>
            <a:ext cx="7978854" cy="225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Solo disipador, sin ventilador. Silencioso pero limitado a tarjetas de bajo rendimiento o antiguas.</a:t>
            </a:r>
            <a:endParaRPr lang="en-US" sz="13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068973" y="5391507"/>
            <a:ext cx="416123" cy="41612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068973" y="5952292"/>
            <a:ext cx="1958459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E5E0DF"/>
                </a:solidFill>
                <a:latin typeface="Overpass" panose="020B0604020202020204" charset="0"/>
                <a:ea typeface="Overpass Bold" pitchFamily="34" charset="-122"/>
                <a:cs typeface="Overpass Bold" pitchFamily="34" charset="-120"/>
              </a:rPr>
              <a:t>Refrigeración líquida</a:t>
            </a:r>
            <a:endParaRPr lang="en-US" sz="1500" dirty="0"/>
          </a:p>
        </p:txBody>
      </p:sp>
      <p:sp>
        <p:nvSpPr>
          <p:cNvPr id="14" name="Text 8"/>
          <p:cNvSpPr/>
          <p:nvPr/>
        </p:nvSpPr>
        <p:spPr>
          <a:xfrm>
            <a:off x="6068973" y="6266497"/>
            <a:ext cx="7978854" cy="4514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Agua como conductor térmico. Mayor eficiencia, menor ruido. El Antec Kühler H2O 620 es un ejemplo compacto y estanco, con vida media de 50.000 h.</a:t>
            </a:r>
            <a:endParaRPr lang="en-US" sz="1300" dirty="0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13F5CAC8-2A9A-6193-FCDE-5A36FECD25D3}"/>
              </a:ext>
            </a:extLst>
          </p:cNvPr>
          <p:cNvSpPr/>
          <p:nvPr/>
        </p:nvSpPr>
        <p:spPr>
          <a:xfrm>
            <a:off x="12495153" y="7358777"/>
            <a:ext cx="2101174" cy="766048"/>
          </a:xfrm>
          <a:prstGeom prst="rect">
            <a:avLst/>
          </a:prstGeom>
          <a:solidFill>
            <a:srgbClr val="242121"/>
          </a:solidFill>
          <a:ln>
            <a:solidFill>
              <a:srgbClr val="24212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2600" y="1009412"/>
            <a:ext cx="1140619" cy="356116"/>
          </a:xfrm>
          <a:prstGeom prst="roundRect">
            <a:avLst>
              <a:gd name="adj" fmla="val 18924"/>
            </a:avLst>
          </a:prstGeom>
          <a:solidFill>
            <a:srgbClr val="4C0124"/>
          </a:solidFill>
          <a:ln/>
        </p:spPr>
      </p:sp>
      <p:sp>
        <p:nvSpPr>
          <p:cNvPr id="3" name="Text 1"/>
          <p:cNvSpPr/>
          <p:nvPr/>
        </p:nvSpPr>
        <p:spPr>
          <a:xfrm>
            <a:off x="922853" y="1069538"/>
            <a:ext cx="900113" cy="235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CAPÍTULO 5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02600" y="1432679"/>
            <a:ext cx="9764911" cy="589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00"/>
              </a:lnSpc>
              <a:buNone/>
            </a:pPr>
            <a:r>
              <a:rPr lang="en-US" sz="3700" b="1" dirty="0">
                <a:solidFill>
                  <a:srgbClr val="FFFFFF"/>
                </a:solidFill>
                <a:latin typeface="Overpass" panose="020B0604020202020204" charset="0"/>
                <a:ea typeface="Overpass Bold" pitchFamily="34" charset="-122"/>
                <a:cs typeface="Overpass Bold" pitchFamily="34" charset="-120"/>
              </a:rPr>
              <a:t>Mercado Actual: Comparativa por Fabricante</a:t>
            </a:r>
            <a:endParaRPr lang="en-US" sz="3700" dirty="0"/>
          </a:p>
        </p:txBody>
      </p:sp>
      <p:sp>
        <p:nvSpPr>
          <p:cNvPr id="5" name="Text 3"/>
          <p:cNvSpPr/>
          <p:nvPr/>
        </p:nvSpPr>
        <p:spPr>
          <a:xfrm>
            <a:off x="802600" y="2274689"/>
            <a:ext cx="13025080" cy="294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Tres fabricantes principales — </a:t>
            </a:r>
            <a:r>
              <a:rPr lang="en-US" sz="1550" b="1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NVIDIA</a:t>
            </a:r>
            <a:r>
              <a:rPr lang="en-US" sz="15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, </a:t>
            </a:r>
            <a:r>
              <a:rPr lang="en-US" sz="1550" b="1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AMD</a:t>
            </a:r>
            <a:r>
              <a:rPr lang="en-US" sz="15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 e </a:t>
            </a:r>
            <a:r>
              <a:rPr lang="en-US" sz="1550" b="1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Intel</a:t>
            </a:r>
            <a:r>
              <a:rPr lang="en-US" sz="15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 — con tres gamas cada uno (baja, media y alta).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802600" y="2758559"/>
            <a:ext cx="13025080" cy="2061686"/>
          </a:xfrm>
          <a:prstGeom prst="roundRect">
            <a:avLst>
              <a:gd name="adj" fmla="val 4086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10220" y="2766179"/>
            <a:ext cx="13009840" cy="51161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010960" y="2874526"/>
            <a:ext cx="1936909" cy="294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b="1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Gama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3356491" y="2874526"/>
            <a:ext cx="3103959" cy="294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b="1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NVIDIA (GeForce)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6869073" y="2874526"/>
            <a:ext cx="3103959" cy="294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b="1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AMD (Radeon)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10381655" y="2874526"/>
            <a:ext cx="3237905" cy="294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b="1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Intel (Arc)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810220" y="3277791"/>
            <a:ext cx="13009840" cy="51161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010960" y="3386138"/>
            <a:ext cx="1936909" cy="294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b="1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Baja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3356491" y="3386138"/>
            <a:ext cx="3103959" cy="294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RTX 4060 (~300 €)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6869073" y="3386138"/>
            <a:ext cx="3103959" cy="294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RX 7600 (~270 €)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10381655" y="3386138"/>
            <a:ext cx="3237905" cy="294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Arc A580 (~180 €)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810220" y="3789402"/>
            <a:ext cx="13009840" cy="51161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1010960" y="3897749"/>
            <a:ext cx="1936909" cy="294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b="1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Media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3356491" y="3897749"/>
            <a:ext cx="3103959" cy="294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RTX 4070 Super (~600 €)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6869073" y="3897749"/>
            <a:ext cx="3103959" cy="294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RX 7700 XT (~380 €)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10381655" y="3897749"/>
            <a:ext cx="3237905" cy="294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Arc A770 (~300 €)</a:t>
            </a:r>
            <a:endParaRPr lang="en-US" sz="1550" dirty="0"/>
          </a:p>
        </p:txBody>
      </p:sp>
      <p:sp>
        <p:nvSpPr>
          <p:cNvPr id="22" name="Shape 20"/>
          <p:cNvSpPr/>
          <p:nvPr/>
        </p:nvSpPr>
        <p:spPr>
          <a:xfrm>
            <a:off x="810220" y="4301014"/>
            <a:ext cx="13009840" cy="51161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1010960" y="4409361"/>
            <a:ext cx="1936909" cy="294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b="1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Alta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3356491" y="4409361"/>
            <a:ext cx="3103959" cy="294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RTX 4090 (~1.800 €)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6869073" y="4409361"/>
            <a:ext cx="3103959" cy="294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RX 7900 XTX (~950 €)</a:t>
            </a:r>
            <a:endParaRPr lang="en-US" sz="1550" dirty="0"/>
          </a:p>
        </p:txBody>
      </p:sp>
      <p:sp>
        <p:nvSpPr>
          <p:cNvPr id="26" name="Text 24"/>
          <p:cNvSpPr/>
          <p:nvPr/>
        </p:nvSpPr>
        <p:spPr>
          <a:xfrm>
            <a:off x="10381655" y="4409361"/>
            <a:ext cx="3237905" cy="294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Arc B580 (~250 €)*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802600" y="5009198"/>
            <a:ext cx="13025080" cy="294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*Intel Arc no compite aún en gama alta. Datos de referencia: 2024–2025.</a:t>
            </a:r>
            <a:endParaRPr lang="en-US" sz="1550" dirty="0"/>
          </a:p>
        </p:txBody>
      </p:sp>
      <p:sp>
        <p:nvSpPr>
          <p:cNvPr id="28" name="Shape 26"/>
          <p:cNvSpPr/>
          <p:nvPr/>
        </p:nvSpPr>
        <p:spPr>
          <a:xfrm>
            <a:off x="802600" y="5493068"/>
            <a:ext cx="4229695" cy="1727121"/>
          </a:xfrm>
          <a:prstGeom prst="roundRect">
            <a:avLst>
              <a:gd name="adj" fmla="val 4877"/>
            </a:avLst>
          </a:prstGeom>
          <a:solidFill>
            <a:srgbClr val="252222">
              <a:alpha val="95000"/>
            </a:srgbClr>
          </a:solidFill>
          <a:ln w="22860">
            <a:solidFill>
              <a:srgbClr val="971B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25962" y="5716429"/>
            <a:ext cx="2405777" cy="294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E5E0DF"/>
                </a:solidFill>
                <a:latin typeface="Overpass" panose="020B0604020202020204" charset="0"/>
                <a:ea typeface="Overpass Bold" pitchFamily="34" charset="-122"/>
                <a:cs typeface="Overpass Bold" pitchFamily="34" charset="-120"/>
              </a:rPr>
              <a:t>Conclusión gama baja</a:t>
            </a:r>
            <a:endParaRPr lang="en-US" sz="1850" dirty="0"/>
          </a:p>
        </p:txBody>
      </p:sp>
      <p:sp>
        <p:nvSpPr>
          <p:cNvPr id="30" name="Text 28"/>
          <p:cNvSpPr/>
          <p:nvPr/>
        </p:nvSpPr>
        <p:spPr>
          <a:xfrm>
            <a:off x="1025962" y="6112073"/>
            <a:ext cx="3782973" cy="8847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AMD RX 7600 ofrece mejor relación calidad-precio; Intel Arc A580 es la opción más económica.</a:t>
            </a:r>
            <a:endParaRPr lang="en-US" sz="1550" dirty="0"/>
          </a:p>
        </p:txBody>
      </p:sp>
      <p:sp>
        <p:nvSpPr>
          <p:cNvPr id="31" name="Shape 29"/>
          <p:cNvSpPr/>
          <p:nvPr/>
        </p:nvSpPr>
        <p:spPr>
          <a:xfrm>
            <a:off x="5200293" y="5493068"/>
            <a:ext cx="4229695" cy="1727121"/>
          </a:xfrm>
          <a:prstGeom prst="roundRect">
            <a:avLst>
              <a:gd name="adj" fmla="val 4877"/>
            </a:avLst>
          </a:prstGeom>
          <a:solidFill>
            <a:srgbClr val="252222">
              <a:alpha val="95000"/>
            </a:srgbClr>
          </a:solidFill>
          <a:ln w="22860">
            <a:solidFill>
              <a:srgbClr val="971B5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23654" y="5716429"/>
            <a:ext cx="2617232" cy="294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E5E0DF"/>
                </a:solidFill>
                <a:latin typeface="Overpass" panose="020B0604020202020204" charset="0"/>
                <a:ea typeface="Overpass Bold" pitchFamily="34" charset="-122"/>
                <a:cs typeface="Overpass Bold" pitchFamily="34" charset="-120"/>
              </a:rPr>
              <a:t>Conclusión gama media</a:t>
            </a:r>
            <a:endParaRPr lang="en-US" sz="1850" dirty="0"/>
          </a:p>
        </p:txBody>
      </p:sp>
      <p:sp>
        <p:nvSpPr>
          <p:cNvPr id="33" name="Text 31"/>
          <p:cNvSpPr/>
          <p:nvPr/>
        </p:nvSpPr>
        <p:spPr>
          <a:xfrm>
            <a:off x="5423654" y="6112073"/>
            <a:ext cx="3782973" cy="8847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AMD RX 7700 XT destaca en precio; NVIDIA RTX 4070 Super lidera en rendimiento ray tracing.</a:t>
            </a:r>
            <a:endParaRPr lang="en-US" sz="1550" dirty="0"/>
          </a:p>
        </p:txBody>
      </p:sp>
      <p:sp>
        <p:nvSpPr>
          <p:cNvPr id="34" name="Shape 32"/>
          <p:cNvSpPr/>
          <p:nvPr/>
        </p:nvSpPr>
        <p:spPr>
          <a:xfrm>
            <a:off x="9597985" y="5493068"/>
            <a:ext cx="4229695" cy="1727121"/>
          </a:xfrm>
          <a:prstGeom prst="roundRect">
            <a:avLst>
              <a:gd name="adj" fmla="val 4877"/>
            </a:avLst>
          </a:prstGeom>
          <a:solidFill>
            <a:srgbClr val="252222">
              <a:alpha val="95000"/>
            </a:srgbClr>
          </a:solidFill>
          <a:ln w="22860">
            <a:solidFill>
              <a:srgbClr val="971B5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821347" y="5716429"/>
            <a:ext cx="2362319" cy="294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E5E0DF"/>
                </a:solidFill>
                <a:latin typeface="Overpass" panose="020B0604020202020204" charset="0"/>
                <a:ea typeface="Overpass Bold" pitchFamily="34" charset="-122"/>
                <a:cs typeface="Overpass Bold" pitchFamily="34" charset="-120"/>
              </a:rPr>
              <a:t>Conclusión gama alta</a:t>
            </a:r>
            <a:endParaRPr lang="en-US" sz="1850" dirty="0"/>
          </a:p>
        </p:txBody>
      </p:sp>
      <p:sp>
        <p:nvSpPr>
          <p:cNvPr id="36" name="Text 34"/>
          <p:cNvSpPr/>
          <p:nvPr/>
        </p:nvSpPr>
        <p:spPr>
          <a:xfrm>
            <a:off x="9821347" y="6112073"/>
            <a:ext cx="3782973" cy="8847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NVIDIA RTX 4090 es imbatible en rendimiento; AMD RX 7900 XTX es la alternativa más equilibrada.</a:t>
            </a:r>
            <a:endParaRPr lang="en-US" sz="1550" dirty="0"/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84968C6B-74B6-A0CE-F6A3-5F5FD76DBCE5}"/>
              </a:ext>
            </a:extLst>
          </p:cNvPr>
          <p:cNvSpPr/>
          <p:nvPr/>
        </p:nvSpPr>
        <p:spPr>
          <a:xfrm>
            <a:off x="12495153" y="7358777"/>
            <a:ext cx="2101174" cy="766048"/>
          </a:xfrm>
          <a:prstGeom prst="rect">
            <a:avLst/>
          </a:prstGeom>
          <a:solidFill>
            <a:srgbClr val="242121"/>
          </a:solidFill>
          <a:ln>
            <a:solidFill>
              <a:srgbClr val="24212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6879" y="974646"/>
            <a:ext cx="1213604" cy="386239"/>
          </a:xfrm>
          <a:prstGeom prst="roundRect">
            <a:avLst>
              <a:gd name="adj" fmla="val 18566"/>
            </a:avLst>
          </a:prstGeom>
          <a:solidFill>
            <a:srgbClr val="4C0124"/>
          </a:solidFill>
          <a:ln/>
        </p:spPr>
      </p:sp>
      <p:sp>
        <p:nvSpPr>
          <p:cNvPr id="3" name="Text 1"/>
          <p:cNvSpPr/>
          <p:nvPr/>
        </p:nvSpPr>
        <p:spPr>
          <a:xfrm>
            <a:off x="874871" y="1038582"/>
            <a:ext cx="957620" cy="2583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CAPÍTULO 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46879" y="1436965"/>
            <a:ext cx="9539168" cy="627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00"/>
              </a:lnSpc>
              <a:buNone/>
            </a:pPr>
            <a:r>
              <a:rPr lang="en-US" sz="3950" b="1" dirty="0">
                <a:solidFill>
                  <a:srgbClr val="FFFFFF"/>
                </a:solidFill>
                <a:latin typeface="Overpass" panose="020B0604020202020204" charset="0"/>
                <a:ea typeface="Overpass Bold" pitchFamily="34" charset="-122"/>
                <a:cs typeface="Overpass Bold" pitchFamily="34" charset="-120"/>
              </a:rPr>
              <a:t>Comparativa entre Fabricantes por Gama</a:t>
            </a:r>
            <a:endParaRPr lang="en-US" sz="39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879" y="2564011"/>
            <a:ext cx="6309360" cy="358637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717357" y="2828112"/>
            <a:ext cx="206637" cy="157734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Overpass" panose="020B060402020202020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100</a:t>
            </a:r>
            <a:endParaRPr lang="en-US" sz="650" dirty="0"/>
          </a:p>
        </p:txBody>
      </p:sp>
      <p:sp>
        <p:nvSpPr>
          <p:cNvPr id="7" name="Text 4"/>
          <p:cNvSpPr/>
          <p:nvPr/>
        </p:nvSpPr>
        <p:spPr>
          <a:xfrm>
            <a:off x="5869410" y="3206881"/>
            <a:ext cx="154361" cy="157734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Overpass" panose="020B060402020202020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82</a:t>
            </a:r>
            <a:endParaRPr lang="en-US" sz="650" dirty="0"/>
          </a:p>
        </p:txBody>
      </p:sp>
      <p:sp>
        <p:nvSpPr>
          <p:cNvPr id="8" name="Text 5"/>
          <p:cNvSpPr/>
          <p:nvPr/>
        </p:nvSpPr>
        <p:spPr>
          <a:xfrm>
            <a:off x="5024557" y="3585650"/>
            <a:ext cx="154362" cy="157734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Overpass" panose="020B060402020202020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65</a:t>
            </a:r>
            <a:endParaRPr lang="en-US" sz="650" dirty="0"/>
          </a:p>
        </p:txBody>
      </p:sp>
      <p:sp>
        <p:nvSpPr>
          <p:cNvPr id="9" name="Text 6"/>
          <p:cNvSpPr/>
          <p:nvPr/>
        </p:nvSpPr>
        <p:spPr>
          <a:xfrm>
            <a:off x="4378616" y="3964419"/>
            <a:ext cx="154361" cy="157734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Overpass" panose="020B060402020202020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52</a:t>
            </a:r>
            <a:endParaRPr lang="en-US" sz="650" dirty="0"/>
          </a:p>
        </p:txBody>
      </p:sp>
      <p:sp>
        <p:nvSpPr>
          <p:cNvPr id="10" name="Text 7"/>
          <p:cNvSpPr/>
          <p:nvPr/>
        </p:nvSpPr>
        <p:spPr>
          <a:xfrm>
            <a:off x="3778252" y="4343188"/>
            <a:ext cx="154361" cy="157734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Overpass" panose="020B060402020202020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40</a:t>
            </a:r>
            <a:endParaRPr lang="en-US" sz="650" dirty="0"/>
          </a:p>
        </p:txBody>
      </p:sp>
      <p:sp>
        <p:nvSpPr>
          <p:cNvPr id="11" name="Text 8"/>
          <p:cNvSpPr/>
          <p:nvPr/>
        </p:nvSpPr>
        <p:spPr>
          <a:xfrm>
            <a:off x="3581416" y="4721957"/>
            <a:ext cx="154362" cy="157734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Overpass" panose="020B060402020202020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36</a:t>
            </a:r>
            <a:endParaRPr lang="en-US" sz="650" dirty="0"/>
          </a:p>
        </p:txBody>
      </p:sp>
      <p:sp>
        <p:nvSpPr>
          <p:cNvPr id="12" name="Text 9"/>
          <p:cNvSpPr/>
          <p:nvPr/>
        </p:nvSpPr>
        <p:spPr>
          <a:xfrm>
            <a:off x="3480664" y="5100727"/>
            <a:ext cx="154362" cy="157734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Overpass" panose="020B060402020202020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34</a:t>
            </a:r>
            <a:endParaRPr lang="en-US" sz="650" dirty="0"/>
          </a:p>
        </p:txBody>
      </p:sp>
      <p:sp>
        <p:nvSpPr>
          <p:cNvPr id="13" name="Text 10"/>
          <p:cNvSpPr/>
          <p:nvPr/>
        </p:nvSpPr>
        <p:spPr>
          <a:xfrm>
            <a:off x="3084398" y="5479496"/>
            <a:ext cx="154361" cy="157734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Overpass" panose="020B060402020202020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26</a:t>
            </a:r>
            <a:endParaRPr lang="en-US" sz="650" dirty="0"/>
          </a:p>
        </p:txBody>
      </p:sp>
      <p:sp>
        <p:nvSpPr>
          <p:cNvPr id="14" name="Text 11"/>
          <p:cNvSpPr/>
          <p:nvPr/>
        </p:nvSpPr>
        <p:spPr>
          <a:xfrm>
            <a:off x="7583091" y="2540318"/>
            <a:ext cx="3528536" cy="31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Overpass" panose="020B0604020202020204" charset="0"/>
                <a:ea typeface="Overpass Bold" pitchFamily="34" charset="-122"/>
                <a:cs typeface="Overpass Bold" pitchFamily="34" charset="-120"/>
              </a:rPr>
              <a:t>Conclusiones por comparativa</a:t>
            </a:r>
            <a:endParaRPr lang="en-US" sz="1950" dirty="0"/>
          </a:p>
        </p:txBody>
      </p:sp>
      <p:sp>
        <p:nvSpPr>
          <p:cNvPr id="15" name="Shape 12"/>
          <p:cNvSpPr/>
          <p:nvPr/>
        </p:nvSpPr>
        <p:spPr>
          <a:xfrm>
            <a:off x="7552611" y="3037642"/>
            <a:ext cx="60960" cy="1857137"/>
          </a:xfrm>
          <a:prstGeom prst="rect">
            <a:avLst/>
          </a:prstGeom>
          <a:solidFill>
            <a:srgbClr val="F20374"/>
          </a:solidFill>
          <a:ln/>
        </p:spPr>
      </p:sp>
      <p:sp>
        <p:nvSpPr>
          <p:cNvPr id="16" name="Text 13"/>
          <p:cNvSpPr/>
          <p:nvPr/>
        </p:nvSpPr>
        <p:spPr>
          <a:xfrm>
            <a:off x="7857411" y="3068122"/>
            <a:ext cx="2510790" cy="31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E5E0DF"/>
                </a:solidFill>
                <a:latin typeface="Overpass" panose="020B0604020202020204" charset="0"/>
                <a:ea typeface="Overpass Bold" pitchFamily="34" charset="-122"/>
                <a:cs typeface="Overpass Bold" pitchFamily="34" charset="-120"/>
              </a:rPr>
              <a:t>NVIDIA vs AMD (alta)</a:t>
            </a:r>
            <a:endParaRPr lang="en-US" sz="1950" dirty="0"/>
          </a:p>
        </p:txBody>
      </p:sp>
      <p:sp>
        <p:nvSpPr>
          <p:cNvPr id="17" name="Text 14"/>
          <p:cNvSpPr/>
          <p:nvPr/>
        </p:nvSpPr>
        <p:spPr>
          <a:xfrm>
            <a:off x="7857411" y="3572232"/>
            <a:ext cx="2760821" cy="1292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RTX 4090 supera en un ~22% a la RX 7900 XTX, pero a casi el doble de precio.</a:t>
            </a:r>
            <a:endParaRPr lang="en-US" sz="1650" dirty="0"/>
          </a:p>
        </p:txBody>
      </p:sp>
      <p:sp>
        <p:nvSpPr>
          <p:cNvPr id="18" name="Shape 15"/>
          <p:cNvSpPr/>
          <p:nvPr/>
        </p:nvSpPr>
        <p:spPr>
          <a:xfrm>
            <a:off x="10825520" y="3037642"/>
            <a:ext cx="60960" cy="1857137"/>
          </a:xfrm>
          <a:prstGeom prst="rect">
            <a:avLst/>
          </a:prstGeom>
          <a:solidFill>
            <a:srgbClr val="F20374"/>
          </a:solidFill>
          <a:ln/>
        </p:spPr>
      </p:sp>
      <p:sp>
        <p:nvSpPr>
          <p:cNvPr id="19" name="Text 16"/>
          <p:cNvSpPr/>
          <p:nvPr/>
        </p:nvSpPr>
        <p:spPr>
          <a:xfrm>
            <a:off x="11130320" y="3068122"/>
            <a:ext cx="2720221" cy="31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E5E0DF"/>
                </a:solidFill>
                <a:latin typeface="Overpass" panose="020B0604020202020204" charset="0"/>
                <a:ea typeface="Overpass Bold" pitchFamily="34" charset="-122"/>
                <a:cs typeface="Overpass Bold" pitchFamily="34" charset="-120"/>
              </a:rPr>
              <a:t>NVIDIA vs AMD (media)</a:t>
            </a:r>
            <a:endParaRPr lang="en-US" sz="1950" dirty="0"/>
          </a:p>
        </p:txBody>
      </p:sp>
      <p:sp>
        <p:nvSpPr>
          <p:cNvPr id="20" name="Text 17"/>
          <p:cNvSpPr/>
          <p:nvPr/>
        </p:nvSpPr>
        <p:spPr>
          <a:xfrm>
            <a:off x="11130320" y="3572232"/>
            <a:ext cx="2760821" cy="969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RTX 4070 Super aventaja en ray tracing; AMD gana en precio por fotograma.</a:t>
            </a:r>
            <a:endParaRPr lang="en-US" sz="1650" dirty="0"/>
          </a:p>
        </p:txBody>
      </p:sp>
      <p:sp>
        <p:nvSpPr>
          <p:cNvPr id="21" name="Shape 18"/>
          <p:cNvSpPr/>
          <p:nvPr/>
        </p:nvSpPr>
        <p:spPr>
          <a:xfrm>
            <a:off x="7552611" y="5214342"/>
            <a:ext cx="60960" cy="1857137"/>
          </a:xfrm>
          <a:prstGeom prst="rect">
            <a:avLst/>
          </a:prstGeom>
          <a:solidFill>
            <a:srgbClr val="F20374"/>
          </a:solidFill>
          <a:ln/>
        </p:spPr>
      </p:sp>
      <p:sp>
        <p:nvSpPr>
          <p:cNvPr id="22" name="Text 19"/>
          <p:cNvSpPr/>
          <p:nvPr/>
        </p:nvSpPr>
        <p:spPr>
          <a:xfrm>
            <a:off x="7857411" y="5244822"/>
            <a:ext cx="2510790" cy="31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E5E0DF"/>
                </a:solidFill>
                <a:latin typeface="Overpass" panose="020B0604020202020204" charset="0"/>
                <a:ea typeface="Overpass Bold" pitchFamily="34" charset="-122"/>
                <a:cs typeface="Overpass Bold" pitchFamily="34" charset="-120"/>
              </a:rPr>
              <a:t>NVIDIA vs AMD (baja)</a:t>
            </a:r>
            <a:endParaRPr lang="en-US" sz="1950" dirty="0"/>
          </a:p>
        </p:txBody>
      </p:sp>
      <p:sp>
        <p:nvSpPr>
          <p:cNvPr id="23" name="Text 20"/>
          <p:cNvSpPr/>
          <p:nvPr/>
        </p:nvSpPr>
        <p:spPr>
          <a:xfrm>
            <a:off x="7857411" y="5748933"/>
            <a:ext cx="2760821" cy="969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Rendimiento similar; AMD RX 7600 es ~10% más barata.</a:t>
            </a:r>
            <a:endParaRPr lang="en-US" sz="1650" dirty="0"/>
          </a:p>
        </p:txBody>
      </p:sp>
      <p:sp>
        <p:nvSpPr>
          <p:cNvPr id="24" name="Shape 21"/>
          <p:cNvSpPr/>
          <p:nvPr/>
        </p:nvSpPr>
        <p:spPr>
          <a:xfrm>
            <a:off x="10825520" y="5214342"/>
            <a:ext cx="60960" cy="1857137"/>
          </a:xfrm>
          <a:prstGeom prst="rect">
            <a:avLst/>
          </a:prstGeom>
          <a:solidFill>
            <a:srgbClr val="F20374"/>
          </a:solidFill>
          <a:ln/>
        </p:spPr>
      </p:sp>
      <p:sp>
        <p:nvSpPr>
          <p:cNvPr id="25" name="Text 22"/>
          <p:cNvSpPr/>
          <p:nvPr/>
        </p:nvSpPr>
        <p:spPr>
          <a:xfrm>
            <a:off x="11130320" y="5244822"/>
            <a:ext cx="2510790" cy="31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E5E0DF"/>
                </a:solidFill>
                <a:latin typeface="Overpass" panose="020B0604020202020204" charset="0"/>
                <a:ea typeface="Overpass Bold" pitchFamily="34" charset="-122"/>
                <a:cs typeface="Overpass Bold" pitchFamily="34" charset="-120"/>
              </a:rPr>
              <a:t>Intel Arc vs ambos</a:t>
            </a:r>
            <a:endParaRPr lang="en-US" sz="1950" dirty="0"/>
          </a:p>
        </p:txBody>
      </p:sp>
      <p:sp>
        <p:nvSpPr>
          <p:cNvPr id="26" name="Text 23"/>
          <p:cNvSpPr/>
          <p:nvPr/>
        </p:nvSpPr>
        <p:spPr>
          <a:xfrm>
            <a:off x="11130320" y="5748933"/>
            <a:ext cx="2760821" cy="1292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Competitivo en precio en gama baja-media; ecosistema de drivers aún madurando.</a:t>
            </a:r>
            <a:endParaRPr lang="en-US" sz="1650" dirty="0"/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25603858-2776-2C28-7FBC-9E821934F0A6}"/>
              </a:ext>
            </a:extLst>
          </p:cNvPr>
          <p:cNvSpPr/>
          <p:nvPr/>
        </p:nvSpPr>
        <p:spPr>
          <a:xfrm>
            <a:off x="12495153" y="7358777"/>
            <a:ext cx="2101174" cy="766048"/>
          </a:xfrm>
          <a:prstGeom prst="rect">
            <a:avLst/>
          </a:prstGeom>
          <a:solidFill>
            <a:srgbClr val="242121"/>
          </a:solidFill>
          <a:ln>
            <a:solidFill>
              <a:srgbClr val="24212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962055" y="1240512"/>
            <a:ext cx="770334" cy="217765"/>
          </a:xfrm>
          <a:prstGeom prst="roundRect">
            <a:avLst>
              <a:gd name="adj" fmla="val 20973"/>
            </a:avLst>
          </a:prstGeom>
          <a:solidFill>
            <a:srgbClr val="4C0124"/>
          </a:solidFill>
          <a:ln/>
        </p:spPr>
      </p:sp>
      <p:sp>
        <p:nvSpPr>
          <p:cNvPr id="4" name="Text 1"/>
          <p:cNvSpPr/>
          <p:nvPr/>
        </p:nvSpPr>
        <p:spPr>
          <a:xfrm>
            <a:off x="6043493" y="1281232"/>
            <a:ext cx="607457" cy="1363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CAPÍTULO 6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5962055" y="1489115"/>
            <a:ext cx="3676531" cy="3996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Overpass" panose="020B0604020202020204" charset="0"/>
                <a:ea typeface="Overpass Bold" pitchFamily="34" charset="-122"/>
                <a:cs typeface="Overpass Bold" pitchFamily="34" charset="-120"/>
              </a:rPr>
              <a:t>Tendencias y Novedades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5962055" y="2004536"/>
            <a:ext cx="8192691" cy="1188244"/>
          </a:xfrm>
          <a:prstGeom prst="roundRect">
            <a:avLst>
              <a:gd name="adj" fmla="val 4804"/>
            </a:avLst>
          </a:prstGeom>
          <a:solidFill>
            <a:srgbClr val="7E023C"/>
          </a:solidFill>
          <a:ln w="7620">
            <a:solidFill>
              <a:srgbClr val="971B5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105525" y="2148007"/>
            <a:ext cx="407670" cy="407670"/>
          </a:xfrm>
          <a:prstGeom prst="roundRect">
            <a:avLst>
              <a:gd name="adj" fmla="val 22427664"/>
            </a:avLst>
          </a:prstGeom>
          <a:solidFill>
            <a:srgbClr val="F20374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17563" y="2260044"/>
            <a:ext cx="183475" cy="18347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105525" y="2632829"/>
            <a:ext cx="1599128" cy="1997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E5E0DF"/>
                </a:solidFill>
                <a:latin typeface="Overpass" panose="020B0604020202020204" charset="0"/>
                <a:ea typeface="Overpass Bold" pitchFamily="34" charset="-122"/>
                <a:cs typeface="Overpass Bold" pitchFamily="34" charset="-120"/>
              </a:rPr>
              <a:t>IA en la GPU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6105525" y="2878812"/>
            <a:ext cx="7905750" cy="170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DLSS (NVIDIA), FSR (AMD) y XeSS (Intel) usan IA para escalar resolución y multiplicar fps sin coste de rendimiento real.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5962055" y="3269933"/>
            <a:ext cx="8192691" cy="1188244"/>
          </a:xfrm>
          <a:prstGeom prst="roundRect">
            <a:avLst>
              <a:gd name="adj" fmla="val 4804"/>
            </a:avLst>
          </a:prstGeom>
          <a:solidFill>
            <a:srgbClr val="7E023C"/>
          </a:solidFill>
          <a:ln w="7620">
            <a:solidFill>
              <a:srgbClr val="971B5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105525" y="3413403"/>
            <a:ext cx="407670" cy="407670"/>
          </a:xfrm>
          <a:prstGeom prst="roundRect">
            <a:avLst>
              <a:gd name="adj" fmla="val 22427664"/>
            </a:avLst>
          </a:prstGeom>
          <a:solidFill>
            <a:srgbClr val="F20374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217563" y="3525441"/>
            <a:ext cx="183475" cy="18347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105525" y="3898225"/>
            <a:ext cx="1599128" cy="1997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E5E0DF"/>
                </a:solidFill>
                <a:latin typeface="Overpass" panose="020B0604020202020204" charset="0"/>
                <a:ea typeface="Overpass Bold" pitchFamily="34" charset="-122"/>
                <a:cs typeface="Overpass Bold" pitchFamily="34" charset="-120"/>
              </a:rPr>
              <a:t>Ray Tracing</a:t>
            </a:r>
            <a:endParaRPr lang="en-US" sz="1250" dirty="0"/>
          </a:p>
        </p:txBody>
      </p:sp>
      <p:sp>
        <p:nvSpPr>
          <p:cNvPr id="15" name="Text 10"/>
          <p:cNvSpPr/>
          <p:nvPr/>
        </p:nvSpPr>
        <p:spPr>
          <a:xfrm>
            <a:off x="6105525" y="4144208"/>
            <a:ext cx="7905750" cy="170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Iluminación global en tiempo real. Ya estándar en gama media-alta. Las próximas generaciones lo llevarán a gama baja.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5962055" y="4535329"/>
            <a:ext cx="8192691" cy="1188244"/>
          </a:xfrm>
          <a:prstGeom prst="roundRect">
            <a:avLst>
              <a:gd name="adj" fmla="val 4804"/>
            </a:avLst>
          </a:prstGeom>
          <a:solidFill>
            <a:srgbClr val="7E023C"/>
          </a:solidFill>
          <a:ln w="7620">
            <a:solidFill>
              <a:srgbClr val="971B55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6105525" y="4678799"/>
            <a:ext cx="407670" cy="407670"/>
          </a:xfrm>
          <a:prstGeom prst="roundRect">
            <a:avLst>
              <a:gd name="adj" fmla="val 22427664"/>
            </a:avLst>
          </a:prstGeom>
          <a:solidFill>
            <a:srgbClr val="F20374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217563" y="4790837"/>
            <a:ext cx="183475" cy="183475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105525" y="5163622"/>
            <a:ext cx="1742123" cy="1997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E5E0DF"/>
                </a:solidFill>
                <a:latin typeface="Overpass" panose="020B0604020202020204" charset="0"/>
                <a:ea typeface="Overpass Bold" pitchFamily="34" charset="-122"/>
                <a:cs typeface="Overpass Bold" pitchFamily="34" charset="-120"/>
              </a:rPr>
              <a:t>Memoria HBM y GDDR7</a:t>
            </a:r>
            <a:endParaRPr lang="en-US" sz="1250" dirty="0"/>
          </a:p>
        </p:txBody>
      </p:sp>
      <p:sp>
        <p:nvSpPr>
          <p:cNvPr id="20" name="Text 14"/>
          <p:cNvSpPr/>
          <p:nvPr/>
        </p:nvSpPr>
        <p:spPr>
          <a:xfrm>
            <a:off x="6105525" y="5409605"/>
            <a:ext cx="7905750" cy="170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Mayor ancho de banda. GDDR7 ya presente en RTX 50 series (2025). HBM3 en GPUs profesionales y de IA.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5962055" y="5800725"/>
            <a:ext cx="8192691" cy="1188244"/>
          </a:xfrm>
          <a:prstGeom prst="roundRect">
            <a:avLst>
              <a:gd name="adj" fmla="val 4804"/>
            </a:avLst>
          </a:prstGeom>
          <a:solidFill>
            <a:srgbClr val="7E023C"/>
          </a:solidFill>
          <a:ln w="7620">
            <a:solidFill>
              <a:srgbClr val="971B55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6105525" y="5944195"/>
            <a:ext cx="407670" cy="407670"/>
          </a:xfrm>
          <a:prstGeom prst="roundRect">
            <a:avLst>
              <a:gd name="adj" fmla="val 22427664"/>
            </a:avLst>
          </a:prstGeom>
          <a:solidFill>
            <a:srgbClr val="F20374"/>
          </a:solidFill>
          <a:ln/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217563" y="6056233"/>
            <a:ext cx="183475" cy="183475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6105525" y="6429018"/>
            <a:ext cx="2678073" cy="1997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E5E0DF"/>
                </a:solidFill>
                <a:latin typeface="Overpass" panose="020B0604020202020204" charset="0"/>
                <a:ea typeface="Overpass Bold" pitchFamily="34" charset="-122"/>
                <a:cs typeface="Overpass Bold" pitchFamily="34" charset="-120"/>
              </a:rPr>
              <a:t>Resoluciones 4K/8K y multimonitor</a:t>
            </a:r>
            <a:endParaRPr lang="en-US" sz="1250" dirty="0"/>
          </a:p>
        </p:txBody>
      </p:sp>
      <p:sp>
        <p:nvSpPr>
          <p:cNvPr id="25" name="Text 18"/>
          <p:cNvSpPr/>
          <p:nvPr/>
        </p:nvSpPr>
        <p:spPr>
          <a:xfrm>
            <a:off x="6105525" y="6675001"/>
            <a:ext cx="7905750" cy="170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DisplayPort 2.1 soporta 8K a 60 Hz. Configuraciones de hasta 6 monitores con una sola tarjeta de gama alta.</a:t>
            </a:r>
            <a:endParaRPr lang="en-US" sz="1050" dirty="0"/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7C4CD944-856B-7591-A7FD-0AFE91996918}"/>
              </a:ext>
            </a:extLst>
          </p:cNvPr>
          <p:cNvSpPr/>
          <p:nvPr/>
        </p:nvSpPr>
        <p:spPr>
          <a:xfrm>
            <a:off x="12495153" y="7358777"/>
            <a:ext cx="2101174" cy="766048"/>
          </a:xfrm>
          <a:prstGeom prst="rect">
            <a:avLst/>
          </a:prstGeom>
          <a:solidFill>
            <a:srgbClr val="242121"/>
          </a:solidFill>
          <a:ln>
            <a:solidFill>
              <a:srgbClr val="24212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731758"/>
            <a:ext cx="6087904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Overpass" panose="020B0604020202020204" charset="0"/>
                <a:ea typeface="Overpass Bold" pitchFamily="34" charset="-122"/>
                <a:cs typeface="Overpass Bold" pitchFamily="34" charset="-120"/>
              </a:rPr>
              <a:t>Bibliografía y Recursos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837724" y="1914525"/>
            <a:ext cx="4158734" cy="5583198"/>
          </a:xfrm>
          <a:prstGeom prst="roundRect">
            <a:avLst>
              <a:gd name="adj" fmla="val 3518"/>
            </a:avLst>
          </a:prstGeom>
          <a:solidFill>
            <a:srgbClr val="252222">
              <a:alpha val="95000"/>
            </a:srgbClr>
          </a:solidFill>
          <a:ln w="30480">
            <a:solidFill>
              <a:srgbClr val="971B5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7244" y="1914525"/>
            <a:ext cx="121920" cy="5583198"/>
          </a:xfrm>
          <a:prstGeom prst="roundRect">
            <a:avLst>
              <a:gd name="adj" fmla="val 82464"/>
            </a:avLst>
          </a:prstGeom>
          <a:solidFill>
            <a:srgbClr val="F20374"/>
          </a:solidFill>
          <a:ln/>
        </p:spPr>
      </p:sp>
      <p:sp>
        <p:nvSpPr>
          <p:cNvPr id="5" name="Text 3"/>
          <p:cNvSpPr/>
          <p:nvPr/>
        </p:nvSpPr>
        <p:spPr>
          <a:xfrm>
            <a:off x="1198959" y="2184321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E0DF"/>
                </a:solidFill>
                <a:latin typeface="Overpass" panose="020B0604020202020204" charset="0"/>
                <a:ea typeface="Overpass Bold" pitchFamily="34" charset="-122"/>
                <a:cs typeface="Overpass Bold" pitchFamily="34" charset="-120"/>
              </a:rPr>
              <a:t>Artículo base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98959" y="2679859"/>
            <a:ext cx="3527703" cy="1532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«La tarjeta gráfica» — Colección de informática, PC Actual / Usuarios de Internet. PDF proporcionado en clase.</a:t>
            </a:r>
            <a:endParaRPr lang="en-US" sz="1850" dirty="0"/>
          </a:p>
        </p:txBody>
      </p:sp>
      <p:sp>
        <p:nvSpPr>
          <p:cNvPr id="7" name="Shape 5"/>
          <p:cNvSpPr/>
          <p:nvPr/>
        </p:nvSpPr>
        <p:spPr>
          <a:xfrm>
            <a:off x="5235773" y="1914525"/>
            <a:ext cx="4158734" cy="5583198"/>
          </a:xfrm>
          <a:prstGeom prst="roundRect">
            <a:avLst>
              <a:gd name="adj" fmla="val 3518"/>
            </a:avLst>
          </a:prstGeom>
          <a:solidFill>
            <a:srgbClr val="252222">
              <a:alpha val="95000"/>
            </a:srgbClr>
          </a:solidFill>
          <a:ln w="30480">
            <a:solidFill>
              <a:srgbClr val="971B5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205293" y="1914525"/>
            <a:ext cx="121920" cy="5583198"/>
          </a:xfrm>
          <a:prstGeom prst="roundRect">
            <a:avLst>
              <a:gd name="adj" fmla="val 82464"/>
            </a:avLst>
          </a:prstGeom>
          <a:solidFill>
            <a:srgbClr val="F20374"/>
          </a:solidFill>
          <a:ln/>
        </p:spPr>
      </p:sp>
      <p:sp>
        <p:nvSpPr>
          <p:cNvPr id="9" name="Text 7"/>
          <p:cNvSpPr/>
          <p:nvPr/>
        </p:nvSpPr>
        <p:spPr>
          <a:xfrm>
            <a:off x="5597009" y="2184321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E0DF"/>
                </a:solidFill>
                <a:latin typeface="Overpass" panose="020B0604020202020204" charset="0"/>
                <a:ea typeface="Overpass Bold" pitchFamily="34" charset="-122"/>
                <a:cs typeface="Overpass Bold" pitchFamily="34" charset="-120"/>
              </a:rPr>
              <a:t>Webs de referencia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597009" y="2679859"/>
            <a:ext cx="3527703" cy="4548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u="sng" dirty="0">
                <a:solidFill>
                  <a:srgbClr val="F20374"/>
                </a:solidFill>
                <a:latin typeface="Overpass" pitchFamily="34" charset="0"/>
                <a:ea typeface="Overpass" pitchFamily="34" charset="-122"/>
                <a:cs typeface="Overpass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nvidia.com</a:t>
            </a:r>
            <a:r>
              <a:rPr lang="en-US" sz="18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 — Especificaciones GeForce RTX</a:t>
            </a:r>
            <a:endParaRPr lang="en-US" sz="1850" dirty="0"/>
          </a:p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u="sng" dirty="0">
                <a:solidFill>
                  <a:srgbClr val="F20374"/>
                </a:solidFill>
                <a:latin typeface="Overpass" pitchFamily="34" charset="0"/>
                <a:ea typeface="Overpass" pitchFamily="34" charset="-122"/>
                <a:cs typeface="Overpass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amd.com</a:t>
            </a:r>
            <a:r>
              <a:rPr lang="en-US" sz="18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 — Especificaciones Radeon RX</a:t>
            </a:r>
            <a:endParaRPr lang="en-US" sz="1850" dirty="0"/>
          </a:p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u="sng" dirty="0">
                <a:solidFill>
                  <a:srgbClr val="F20374"/>
                </a:solidFill>
                <a:latin typeface="Overpass" pitchFamily="34" charset="0"/>
                <a:ea typeface="Overpass" pitchFamily="34" charset="-122"/>
                <a:cs typeface="Overpass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intel.com/arc</a:t>
            </a:r>
            <a:r>
              <a:rPr lang="en-US" sz="18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 — Especificaciones Intel Arc</a:t>
            </a:r>
            <a:endParaRPr lang="en-US" sz="1850" dirty="0"/>
          </a:p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u="sng" dirty="0">
                <a:solidFill>
                  <a:srgbClr val="F20374"/>
                </a:solidFill>
                <a:latin typeface="Overpass" pitchFamily="34" charset="0"/>
                <a:ea typeface="Overpass" pitchFamily="34" charset="-122"/>
                <a:cs typeface="Overpass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techpowerup.com/gpu-specs</a:t>
            </a:r>
            <a:r>
              <a:rPr lang="en-US" sz="18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 — Base de datos GPU</a:t>
            </a:r>
            <a:endParaRPr lang="en-US" sz="1850" dirty="0"/>
          </a:p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u="sng" dirty="0">
                <a:solidFill>
                  <a:srgbClr val="F20374"/>
                </a:solidFill>
                <a:latin typeface="Overpass" pitchFamily="34" charset="0"/>
                <a:ea typeface="Overpass" pitchFamily="34" charset="-122"/>
                <a:cs typeface="Overpass" pitchFamily="34" charset="-12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tomshardware.com</a:t>
            </a:r>
            <a:r>
              <a:rPr lang="en-US" sz="18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 — Benchmarks y comparativas</a:t>
            </a:r>
            <a:endParaRPr lang="en-US" sz="1850" dirty="0"/>
          </a:p>
        </p:txBody>
      </p:sp>
      <p:sp>
        <p:nvSpPr>
          <p:cNvPr id="11" name="Shape 9"/>
          <p:cNvSpPr/>
          <p:nvPr/>
        </p:nvSpPr>
        <p:spPr>
          <a:xfrm>
            <a:off x="9633823" y="1914525"/>
            <a:ext cx="4158853" cy="5583198"/>
          </a:xfrm>
          <a:prstGeom prst="roundRect">
            <a:avLst>
              <a:gd name="adj" fmla="val 3518"/>
            </a:avLst>
          </a:prstGeom>
          <a:solidFill>
            <a:srgbClr val="252222">
              <a:alpha val="95000"/>
            </a:srgbClr>
          </a:solidFill>
          <a:ln w="30480">
            <a:solidFill>
              <a:srgbClr val="971B5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03343" y="1914525"/>
            <a:ext cx="121920" cy="5583198"/>
          </a:xfrm>
          <a:prstGeom prst="roundRect">
            <a:avLst>
              <a:gd name="adj" fmla="val 82464"/>
            </a:avLst>
          </a:prstGeom>
          <a:solidFill>
            <a:srgbClr val="F20374"/>
          </a:solidFill>
          <a:ln/>
        </p:spPr>
      </p:sp>
      <p:sp>
        <p:nvSpPr>
          <p:cNvPr id="13" name="Text 11"/>
          <p:cNvSpPr/>
          <p:nvPr/>
        </p:nvSpPr>
        <p:spPr>
          <a:xfrm>
            <a:off x="9995059" y="2184321"/>
            <a:ext cx="2894409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E0DF"/>
                </a:solidFill>
                <a:latin typeface="Overpass" panose="020B0604020202020204" charset="0"/>
                <a:ea typeface="Overpass Bold" pitchFamily="34" charset="-122"/>
                <a:cs typeface="Overpass Bold" pitchFamily="34" charset="-120"/>
              </a:rPr>
              <a:t>Vídeos recomendados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995059" y="2679859"/>
            <a:ext cx="3527822" cy="24655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u="sng" dirty="0">
                <a:solidFill>
                  <a:srgbClr val="F20374"/>
                </a:solidFill>
                <a:latin typeface="Overpass" pitchFamily="34" charset="0"/>
                <a:ea typeface="Overpass" pitchFamily="34" charset="-122"/>
                <a:cs typeface="Overpass" pitchFamily="34" charset="-12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¿Cómo funciona una GPU? — YouTube (Linus Tech Tips)</a:t>
            </a:r>
            <a:endParaRPr lang="en-US" sz="1850" dirty="0"/>
          </a:p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u="sng" dirty="0">
                <a:solidFill>
                  <a:srgbClr val="F20374"/>
                </a:solidFill>
                <a:latin typeface="Overpass" pitchFamily="34" charset="0"/>
                <a:ea typeface="Overpass" pitchFamily="34" charset="-122"/>
                <a:cs typeface="Overpass" pitchFamily="34" charset="-120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Ray Tracing explicado — YouTube (Digital Foundry)</a:t>
            </a:r>
            <a:endParaRPr lang="en-US" sz="1850" dirty="0"/>
          </a:p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u="sng" dirty="0">
                <a:solidFill>
                  <a:srgbClr val="F20374"/>
                </a:solidFill>
                <a:latin typeface="Overpass" pitchFamily="34" charset="0"/>
                <a:ea typeface="Overpass" pitchFamily="34" charset="-122"/>
                <a:cs typeface="Overpass" pitchFamily="34" charset="-120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DLSS vs FSR vs XeSS 2024 — YouTube</a:t>
            </a:r>
            <a:endParaRPr lang="en-US" sz="1850" dirty="0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FA38CFD4-9896-0007-DF30-22D4D261BA80}"/>
              </a:ext>
            </a:extLst>
          </p:cNvPr>
          <p:cNvSpPr/>
          <p:nvPr/>
        </p:nvSpPr>
        <p:spPr>
          <a:xfrm>
            <a:off x="12495153" y="7641311"/>
            <a:ext cx="2101174" cy="483513"/>
          </a:xfrm>
          <a:prstGeom prst="rect">
            <a:avLst/>
          </a:prstGeom>
          <a:solidFill>
            <a:srgbClr val="242121"/>
          </a:solidFill>
          <a:ln>
            <a:solidFill>
              <a:srgbClr val="24212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1012</Words>
  <Application>Microsoft Office PowerPoint</Application>
  <PresentationFormat>Personalizado</PresentationFormat>
  <Paragraphs>153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3" baseType="lpstr">
      <vt:lpstr>Overpass</vt:lpstr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ASIR1-21</dc:creator>
  <cp:lastModifiedBy>ASIR1-21</cp:lastModifiedBy>
  <cp:revision>4</cp:revision>
  <dcterms:created xsi:type="dcterms:W3CDTF">2026-03-18T07:54:25Z</dcterms:created>
  <dcterms:modified xsi:type="dcterms:W3CDTF">2026-03-18T08:02:10Z</dcterms:modified>
</cp:coreProperties>
</file>