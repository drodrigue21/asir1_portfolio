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mo" panose="020B0604020202020204" charset="0"/>
      <p:regular r:id="rId13"/>
    </p:embeddedFont>
    <p:embeddedFont>
      <p:font typeface="Outfit Extra Bold" panose="020B0604020202020204" charset="0"/>
      <p:regular r:id="rId14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2F9"/>
    <a:srgbClr val="EEEEF3"/>
    <a:srgbClr val="EEEF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12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0617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Guía</a:t>
            </a: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de Compra de Monitores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638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Daniel Rodríguez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· 1º ASIR · 11/03/2026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29878" y="5157549"/>
            <a:ext cx="122932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PERIFÉRICOS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552343" y="5157549"/>
            <a:ext cx="11889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TECNOLOGÍA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Índice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Outfit Light" pitchFamily="34" charset="-122"/>
                <a:cs typeface="Arial" panose="020B0604020202020204" pitchFamily="34" charset="0"/>
              </a:rPr>
              <a:t>01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35625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Características</a:t>
            </a: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</a:t>
            </a: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principales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Tipo de panel, </a:t>
            </a:r>
            <a:r>
              <a:rPr lang="en-US" sz="175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tamaño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, </a:t>
            </a:r>
            <a:r>
              <a:rPr lang="en-US" sz="175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resolución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, </a:t>
            </a:r>
            <a:r>
              <a:rPr lang="en-US" sz="175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brillo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, </a:t>
            </a:r>
            <a:r>
              <a:rPr lang="en-US" sz="175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refresco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, </a:t>
            </a:r>
            <a:r>
              <a:rPr lang="en-US" sz="175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sincronización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, </a:t>
            </a:r>
            <a:r>
              <a:rPr lang="en-US" sz="1750" dirty="0" err="1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conectividad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Outfit Light" pitchFamily="34" charset="-122"/>
                <a:cs typeface="Arial" panose="020B0604020202020204" pitchFamily="34" charset="0"/>
              </a:rPr>
              <a:t>02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632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Formatos</a:t>
            </a: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</a:t>
            </a: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destacados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Paneles 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curvados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resoluciones 4K/8K y monitores 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ultrapanorámicos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Outfit Light" pitchFamily="34" charset="-122"/>
                <a:cs typeface="Arial" panose="020B0604020202020204" pitchFamily="34" charset="0"/>
              </a:rPr>
              <a:t>03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4846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Estudio</a:t>
            </a: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de mercado actual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Comparativa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de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dos 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fabricantes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en gamas baja, media y alta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Outfit Light" pitchFamily="34" charset="-122"/>
                <a:cs typeface="Arial" panose="020B0604020202020204" pitchFamily="34" charset="0"/>
              </a:rPr>
              <a:t>04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31896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Tendencias</a:t>
            </a: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y </a:t>
            </a: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novedades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Hacia dónde va la 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tecnología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en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monitores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Outfit Light" pitchFamily="34" charset="-122"/>
                <a:cs typeface="Arial" panose="020B0604020202020204" pitchFamily="34" charset="0"/>
              </a:rPr>
              <a:t>05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Bibliografía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Fuentes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enlaces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y </a:t>
            </a:r>
            <a:r>
              <a:rPr lang="en-US" sz="1750" dirty="0">
                <a:solidFill>
                  <a:srgbClr val="2A2742"/>
                </a:solidFill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vídeos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 interés</a:t>
            </a:r>
            <a:endParaRPr lang="en-US" sz="175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FA2E12F-BF5B-D529-1128-3BB69C8B5333}"/>
              </a:ext>
            </a:extLst>
          </p:cNvPr>
          <p:cNvSpPr/>
          <p:nvPr/>
        </p:nvSpPr>
        <p:spPr>
          <a:xfrm>
            <a:off x="12633333" y="7590353"/>
            <a:ext cx="1941095" cy="579120"/>
          </a:xfrm>
          <a:prstGeom prst="rect">
            <a:avLst/>
          </a:prstGeom>
          <a:solidFill>
            <a:srgbClr val="EEEF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2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8865" y="719018"/>
            <a:ext cx="6054685" cy="600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Características</a:t>
            </a:r>
            <a:r>
              <a:rPr lang="en-US" sz="37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</a:t>
            </a:r>
            <a:r>
              <a:rPr lang="en-US" sz="37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Principales</a:t>
            </a:r>
            <a:endParaRPr lang="en-US" sz="3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158865" y="1563410"/>
            <a:ext cx="7799070" cy="1364813"/>
          </a:xfrm>
          <a:prstGeom prst="roundRect">
            <a:avLst>
              <a:gd name="adj" fmla="val 5913"/>
            </a:avLst>
          </a:prstGeom>
          <a:solidFill>
            <a:schemeClr val="bg1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58533" y="1763078"/>
            <a:ext cx="2401610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Tipo de panel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58533" y="2160865"/>
            <a:ext cx="7399734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TN (económico, rápido), VA/MVA (equilibrado), </a:t>
            </a: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IPS/PLS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(mejor calidad general). OLED y Mini LED: emergentes.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58865" y="3090863"/>
            <a:ext cx="7799070" cy="1364813"/>
          </a:xfrm>
          <a:prstGeom prst="roundRect">
            <a:avLst>
              <a:gd name="adj" fmla="val 5913"/>
            </a:avLst>
          </a:prstGeom>
          <a:solidFill>
            <a:schemeClr val="bg1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8533" y="3290530"/>
            <a:ext cx="2401610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Tamaño y resolución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58533" y="3688318"/>
            <a:ext cx="7399734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Media actual: 24″ o más. Mínimo recomendado: </a:t>
            </a: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Full HD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Escala hasta 4K/8K. Busca equilibrio tamaño–resolución–GPU.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58865" y="4618315"/>
            <a:ext cx="7799070" cy="1364813"/>
          </a:xfrm>
          <a:prstGeom prst="roundRect">
            <a:avLst>
              <a:gd name="adj" fmla="val 5913"/>
            </a:avLst>
          </a:prstGeom>
          <a:solidFill>
            <a:schemeClr val="bg1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8533" y="4817983"/>
            <a:ext cx="2704505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Brillo / Contraste / Color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358533" y="5215771"/>
            <a:ext cx="7399734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Mínimo </a:t>
            </a: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250 nits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y contraste </a:t>
            </a: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850:1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Ángulos ≥176°. Cobertura sRGB clave para edición.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58865" y="6145768"/>
            <a:ext cx="7799070" cy="1364813"/>
          </a:xfrm>
          <a:prstGeom prst="roundRect">
            <a:avLst>
              <a:gd name="adj" fmla="val 5913"/>
            </a:avLst>
          </a:prstGeom>
          <a:solidFill>
            <a:schemeClr val="bg1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8533" y="6345436"/>
            <a:ext cx="2824282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Refresco y sincronización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358533" y="6743224"/>
            <a:ext cx="7399734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Gaming: 144–360 Hz. Sincronización adaptativa: </a:t>
            </a: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FreeSync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(AMD) o </a:t>
            </a: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G-Sync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(NVIDIA) para imagen fluida.</a:t>
            </a:r>
            <a:endParaRPr lang="en-US" sz="15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D58ADE2-5A4F-9AE2-621E-0D64470E4EC7}"/>
              </a:ext>
            </a:extLst>
          </p:cNvPr>
          <p:cNvSpPr/>
          <p:nvPr/>
        </p:nvSpPr>
        <p:spPr>
          <a:xfrm>
            <a:off x="12633333" y="7590353"/>
            <a:ext cx="1941095" cy="579120"/>
          </a:xfrm>
          <a:prstGeom prst="rect">
            <a:avLst/>
          </a:prstGeom>
          <a:solidFill>
            <a:srgbClr val="EEEF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2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429" y="670203"/>
            <a:ext cx="8621673" cy="68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Conectividad, Ergonomía y Extras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29" y="2113598"/>
            <a:ext cx="8330922" cy="49984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4180" y="1876306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Conectividad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634180" y="2426851"/>
            <a:ext cx="4240292" cy="1369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Interfaces principales: </a:t>
            </a:r>
            <a:r>
              <a:rPr lang="en-US" sz="17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HDMI</a:t>
            </a: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y </a:t>
            </a:r>
            <a:r>
              <a:rPr lang="en-US" sz="17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DisplayPort</a:t>
            </a: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USB Type-C / Thunderbolt 3 en modelos modernos. Hub USB integrado habitual.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34180" y="4005858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Ergonomía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634180" y="4556403"/>
            <a:ext cx="4240292" cy="102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Ajuste en altura, giro, inclinación y pivote. Compatibilidad </a:t>
            </a:r>
            <a:r>
              <a:rPr lang="en-US" sz="17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VESA</a:t>
            </a: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para montaje en pared.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34180" y="5793105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Extras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634180" y="6343650"/>
            <a:ext cx="4240292" cy="1026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HDR, protección luz azul, RGB gaming, PIP/PBP para multitarea, webcam integrada en modelos de oficina.</a:t>
            </a:r>
            <a:endParaRPr lang="en-US" sz="17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BF29C2E-623F-0952-B319-5DC48EC2FE00}"/>
              </a:ext>
            </a:extLst>
          </p:cNvPr>
          <p:cNvSpPr/>
          <p:nvPr/>
        </p:nvSpPr>
        <p:spPr>
          <a:xfrm>
            <a:off x="12633333" y="7590353"/>
            <a:ext cx="1941095" cy="579120"/>
          </a:xfrm>
          <a:prstGeom prst="rect">
            <a:avLst/>
          </a:prstGeom>
          <a:solidFill>
            <a:srgbClr val="EEEF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2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5448"/>
            <a:ext cx="58183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Formatos Destacados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37855"/>
            <a:ext cx="2411968" cy="1490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612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Paneles Curvados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102423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Mayor inmersión y menor distorsión en bordes. Curvatura: 1500R–1900R. Pruébalos antes de comprar; no todos los usuarios se adaptan.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837855"/>
            <a:ext cx="2411968" cy="1490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612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4K / 8K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102423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4K: 3840×2160 px. 8K: 7680×4320 px. Requieren GPU potente. Excelente para edición y juegos, pero exigen hardware de gama alta.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837855"/>
            <a:ext cx="2411968" cy="149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612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Ultrapanorámicos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102423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Relación 21:9 (o hasta 32:9). Más espacio horizontal, mayor inmersión en juegos y cine. Pierden algo de espacio vertical.</a:t>
            </a:r>
            <a:endParaRPr lang="en-US" sz="175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80C2D91-BAD3-D194-C896-7073BD6FCAE7}"/>
              </a:ext>
            </a:extLst>
          </p:cNvPr>
          <p:cNvSpPr/>
          <p:nvPr/>
        </p:nvSpPr>
        <p:spPr>
          <a:xfrm>
            <a:off x="12633333" y="7590353"/>
            <a:ext cx="1941095" cy="579120"/>
          </a:xfrm>
          <a:prstGeom prst="rect">
            <a:avLst/>
          </a:prstGeom>
          <a:solidFill>
            <a:srgbClr val="EEEF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2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0930"/>
            <a:ext cx="70146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Estudio de Mercado Actual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824270" y="1888200"/>
            <a:ext cx="22275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COMPARATIVA 2025–2026</a:t>
            </a:r>
            <a:endParaRPr lang="en-US" sz="1400" b="1" dirty="0"/>
          </a:p>
        </p:txBody>
      </p:sp>
      <p:sp>
        <p:nvSpPr>
          <p:cNvPr id="5" name="Text 3"/>
          <p:cNvSpPr/>
          <p:nvPr/>
        </p:nvSpPr>
        <p:spPr>
          <a:xfrm>
            <a:off x="793790" y="261473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Comparamos dos fabricantes líderes — </a:t>
            </a: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LG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y </a:t>
            </a: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Samsung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en tres gamas de precio para ayudarte a elegir el monitor más adecuado.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595688"/>
            <a:ext cx="4196358" cy="3862864"/>
          </a:xfrm>
          <a:prstGeom prst="roundRect">
            <a:avLst>
              <a:gd name="adj" fmla="val 2466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084" y="3778270"/>
            <a:ext cx="34424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Gama Baja (hasta ~250 €)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9785" y="4315182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LG 24MR400-B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– 24″ IPS FHD, 100 Hz, AMD FreeSync. Excelente relación calidad-precio.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Samsung S24C310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– 24″ IPS FHD, 75 Hz, Eye Saver. Ideal para ofimática básica.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595688"/>
            <a:ext cx="4196358" cy="3862864"/>
          </a:xfrm>
          <a:prstGeom prst="roundRect">
            <a:avLst>
              <a:gd name="adj" fmla="val 2466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74256" y="3803862"/>
            <a:ext cx="33959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Gama Media (250–600 €)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74256" y="4352987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LG 27GP850-B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– 27″ NanoIPS 2K, 165 Hz, G-Sync Compatible. Equilibrio gaming/productividad.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Samsung Odyssey G5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– 27″ VA 2K Curvo, 165 Hz, FreeSync Premium. Gran contraste.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3611543"/>
            <a:ext cx="4196358" cy="3862864"/>
          </a:xfrm>
          <a:prstGeom prst="roundRect">
            <a:avLst>
              <a:gd name="adj" fmla="val 2466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97427" y="38134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Gama Alta (600 € +)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68845" y="4369611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LG UltraGear 27GR95QE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– 27″ OLED 2K, 240 Hz, 0,03 ms. Negros perfectos.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Samsung Odyssey OLED G8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– 34″ OLED UltraWide 4K, 175 Hz. Diseño premium.</a:t>
            </a:r>
            <a:endParaRPr lang="en-US" sz="175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58826C-ABC5-F539-7BE3-DB243FBEE10C}"/>
              </a:ext>
            </a:extLst>
          </p:cNvPr>
          <p:cNvSpPr/>
          <p:nvPr/>
        </p:nvSpPr>
        <p:spPr>
          <a:xfrm>
            <a:off x="12633333" y="7590353"/>
            <a:ext cx="1941095" cy="579120"/>
          </a:xfrm>
          <a:prstGeom prst="rect">
            <a:avLst/>
          </a:prstGeom>
          <a:solidFill>
            <a:srgbClr val="EEEF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2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6985" y="1110020"/>
            <a:ext cx="6173986" cy="517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Conclusiones de la Comparativa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1596985" y="1945719"/>
            <a:ext cx="3739872" cy="1445538"/>
          </a:xfrm>
          <a:prstGeom prst="roundRect">
            <a:avLst>
              <a:gd name="adj" fmla="val 7591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54160" y="2134314"/>
            <a:ext cx="2071807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Gama baja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54160" y="2514362"/>
            <a:ext cx="3294102" cy="68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LG ofrece mayor tasa de refresco (100 Hz vs 75 Hz) al mismo precio; mejor opción si usas el PC a diario.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96985" y="3512344"/>
            <a:ext cx="3739872" cy="1674971"/>
          </a:xfrm>
          <a:prstGeom prst="roundRect">
            <a:avLst>
              <a:gd name="adj" fmla="val 6551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4160" y="3700939"/>
            <a:ext cx="2071807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Gama media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54160" y="4080986"/>
            <a:ext cx="3294102" cy="917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Samsung destaca en contraste (panel VA curvo); LG en velocidad y color (NanoIPS). Elige según uso: gaming rápido → LG; inmersión → Samsung.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596985" y="5308402"/>
            <a:ext cx="3739872" cy="1674971"/>
          </a:xfrm>
          <a:prstGeom prst="roundRect">
            <a:avLst>
              <a:gd name="adj" fmla="val 6551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54160" y="5496997"/>
            <a:ext cx="2071807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Gama alta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54160" y="5877044"/>
            <a:ext cx="3294102" cy="917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Ambos apuestan por OLED. Samsung gana en tamaño y resolución; LG en velocidad. Los dos son una inversión excelente a largo plazo.</a:t>
            </a:r>
            <a:endParaRPr lang="en-US" sz="13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814" y="2276951"/>
            <a:ext cx="7292102" cy="4375190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75F802E3-1798-533F-0C10-7B8E9EEACA54}"/>
              </a:ext>
            </a:extLst>
          </p:cNvPr>
          <p:cNvSpPr/>
          <p:nvPr/>
        </p:nvSpPr>
        <p:spPr>
          <a:xfrm>
            <a:off x="12633333" y="7590353"/>
            <a:ext cx="1941095" cy="579120"/>
          </a:xfrm>
          <a:prstGeom prst="rect">
            <a:avLst/>
          </a:prstGeom>
          <a:solidFill>
            <a:srgbClr val="EEEF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2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6882" y="662583"/>
            <a:ext cx="6255187" cy="68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Tendencias y Novedades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6882" y="1664732"/>
            <a:ext cx="547688" cy="5476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79126" y="1664732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OLED y QD-OLED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1579126" y="2133957"/>
            <a:ext cx="6797993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Precios bajando progresivamente. QD-OLED combina brillo de Quantum Dot con negros perfectos de OLED.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6882" y="3246120"/>
            <a:ext cx="547688" cy="5476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79126" y="3246120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Mini LED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579126" y="3715345"/>
            <a:ext cx="6797993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Retroiluminación de alta precisión. Brillo extremo (hasta 2000 nits), sin riesgo de quemado. Alternativa sólida a OLED.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6882" y="4827508"/>
            <a:ext cx="547688" cy="5476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79126" y="4827508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360 Hz y más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1579126" y="5296733"/>
            <a:ext cx="6797993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Tasas de refresco extremas para eSports. Ya existen monitores OLED a 480 Hz orientados a competición profesional.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6882" y="6408896"/>
            <a:ext cx="547688" cy="5476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79126" y="6408896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USB4 / Thunderbolt 5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1579126" y="6878122"/>
            <a:ext cx="6797993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 solo cable para vídeo 8K, datos y carga. Simplifica escritorios y mejora la experiencia con portátiles.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8491" y="525780"/>
            <a:ext cx="6032778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Recomendaciones de Compra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491" y="1346002"/>
            <a:ext cx="12113300" cy="5317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13336" y="4632379"/>
            <a:ext cx="2123364" cy="65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Presupuesto y uso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3313336" y="5381973"/>
            <a:ext cx="2123364" cy="698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Decide presupuesto y propósito (gaming, edición, oficina)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275089" y="4550711"/>
            <a:ext cx="2123364" cy="65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Conectividad y ergonomía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275089" y="5300305"/>
            <a:ext cx="2123364" cy="698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Confirma HDMI, DisplayPort, VESA y ajuste de altura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311713" y="1903616"/>
            <a:ext cx="2123364" cy="65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Panel y resolución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311713" y="2653210"/>
            <a:ext cx="2123364" cy="698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Elige IPS u OLED y FHD/2K/4K según calidad</a:t>
            </a:r>
            <a:endParaRPr lang="en-US" sz="165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CEFB456-936A-43DC-80A3-3E427C5748C5}"/>
              </a:ext>
            </a:extLst>
          </p:cNvPr>
          <p:cNvSpPr/>
          <p:nvPr/>
        </p:nvSpPr>
        <p:spPr>
          <a:xfrm>
            <a:off x="12594888" y="7703820"/>
            <a:ext cx="1941095" cy="497920"/>
          </a:xfrm>
          <a:prstGeom prst="rect">
            <a:avLst/>
          </a:prstGeom>
          <a:solidFill>
            <a:srgbClr val="EEEF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2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1776"/>
            <a:ext cx="60718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Bibliografía y Recursos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7530"/>
            <a:ext cx="30241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Artículos de referencia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28674"/>
            <a:ext cx="6244709" cy="293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MuyComputer – Guía de compra de monitores (muycomputer.com)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MuyComputer – TN vs VA vs IPS: cómo elegir panel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MuyComputer – Tasa de refresco variable en juegos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MuyComputer – FreeSync vs G-Sync comparativa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MuyComputer – Guía de interfaces HDMI y DisplayPort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MuyComputer – Pantallas Mini LED y futuro tecnológico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8922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Tiendas y precios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6473428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Amazon.es – Sección monitores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PCComponentes.com – Comparador de monitores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147530"/>
            <a:ext cx="2923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Vídeos recomendados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2728674"/>
            <a:ext cx="62447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YouTube: "IPS vs VA vs TN – Which Panel is Best?" – Linus Tech Tips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YouTube: "Best Monitors 2025 – Every Budget" – Hardware Unboxed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YouTube: "OLED vs Mini LED Monitors" – Digital Foundry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YouTube: "Ultrawide vs Dual Monitor Setup" – Dave2D</a:t>
            </a:r>
            <a:endParaRPr lang="en-US" sz="175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945F6D3-2A9A-3443-C8EC-1B623DB0B7B3}"/>
              </a:ext>
            </a:extLst>
          </p:cNvPr>
          <p:cNvSpPr/>
          <p:nvPr/>
        </p:nvSpPr>
        <p:spPr>
          <a:xfrm>
            <a:off x="12633333" y="7590353"/>
            <a:ext cx="1941095" cy="579120"/>
          </a:xfrm>
          <a:prstGeom prst="rect">
            <a:avLst/>
          </a:prstGeom>
          <a:solidFill>
            <a:srgbClr val="EEEFF4"/>
          </a:solidFill>
          <a:ln>
            <a:solidFill>
              <a:srgbClr val="EEE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2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874</Words>
  <Application>Microsoft Office PowerPoint</Application>
  <PresentationFormat>Personalizado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Outfit Extra Bold</vt:lpstr>
      <vt:lpstr>Arial</vt:lpstr>
      <vt:lpstr>Arimo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ASIR1-21</cp:lastModifiedBy>
  <cp:revision>3</cp:revision>
  <dcterms:created xsi:type="dcterms:W3CDTF">2026-03-11T12:21:22Z</dcterms:created>
  <dcterms:modified xsi:type="dcterms:W3CDTF">2026-03-11T12:33:48Z</dcterms:modified>
</cp:coreProperties>
</file>