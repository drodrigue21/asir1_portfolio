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badi" panose="020B0604020104020204" pitchFamily="34" charset="0"/>
      <p:regular r:id="rId13"/>
      <p:bold r:id="rId14"/>
    </p:embeddedFont>
    <p:embeddedFont>
      <p:font typeface="Inter" panose="020B0604020202020204" charset="0"/>
      <p:regular r:id="rId15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C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7192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xtreme.outervision.co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47079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Fuentes de Alimentación y SAI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417576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Autor: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[Nombre del Alumno/a]  | 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Curso: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[Curso Académico]  | 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Fecha: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[Fecha]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15671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Guía completa sobre el sistema eléctrico del PC: fuentes de alimentación, SAI y herramientas de gestión.</a:t>
            </a:r>
            <a:endParaRPr lang="en-US" sz="175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DB67F72-898B-DFB7-11B7-FF56DEF090F2}"/>
              </a:ext>
            </a:extLst>
          </p:cNvPr>
          <p:cNvSpPr/>
          <p:nvPr/>
        </p:nvSpPr>
        <p:spPr>
          <a:xfrm>
            <a:off x="11311847" y="7582329"/>
            <a:ext cx="3233681" cy="513707"/>
          </a:xfrm>
          <a:prstGeom prst="rect">
            <a:avLst/>
          </a:prstGeom>
          <a:solidFill>
            <a:srgbClr val="FBFCFD"/>
          </a:solidFill>
          <a:ln>
            <a:solidFill>
              <a:srgbClr val="FBFC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64469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Índice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662357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Abadi" panose="020B0604020104020204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17401"/>
            <a:ext cx="4196358" cy="3048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191708"/>
            <a:ext cx="4196358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Fundamentos de la alimentación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3790" y="4071937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CA/CC, conversión y tipos de fuentes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662357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Abadi" panose="020B0604020104020204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017401"/>
            <a:ext cx="4196358" cy="3048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191708"/>
            <a:ext cx="371629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Calcular el consumo del PC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216962" y="3699867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Estimación, vatímetros y tabla de consumos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662357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Abadi" panose="020B0604020104020204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017401"/>
            <a:ext cx="4196358" cy="3048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191708"/>
            <a:ext cx="4196358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La fuente idónea y conectores ATX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9640133" y="4071937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Eficiencia, calidad y anatomía de conectores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5194578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Abadi" panose="020B0604020104020204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549622"/>
            <a:ext cx="6407944" cy="3048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723930"/>
            <a:ext cx="463236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SAI: tipos, capacidad e instalación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93790" y="6232088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Offline, interactivo, online y gestión con software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5194578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Abadi" panose="020B0604020104020204" pitchFamily="34" charset="0"/>
                <a:ea typeface="Petrona Light" pitchFamily="34" charset="-122"/>
                <a:cs typeface="Petrona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549622"/>
            <a:ext cx="6407944" cy="3048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723930"/>
            <a:ext cx="561927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Mercado actual, tendencias y bibliografía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7428548" y="6232088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Comparativas, novedades tecnológicas y recursos</a:t>
            </a:r>
            <a:endParaRPr lang="en-US" sz="1750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2BDEEEA5-18E3-F7E1-6F7C-35AC14ABEF55}"/>
              </a:ext>
            </a:extLst>
          </p:cNvPr>
          <p:cNvSpPr/>
          <p:nvPr/>
        </p:nvSpPr>
        <p:spPr>
          <a:xfrm>
            <a:off x="11311847" y="7582329"/>
            <a:ext cx="3233681" cy="513707"/>
          </a:xfrm>
          <a:prstGeom prst="rect">
            <a:avLst/>
          </a:prstGeom>
          <a:solidFill>
            <a:srgbClr val="FBFCFD"/>
          </a:solidFill>
          <a:ln>
            <a:solidFill>
              <a:srgbClr val="FBFC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94611" y="999053"/>
            <a:ext cx="9542859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Fundamentos de la Alimentación del PC</a:t>
            </a:r>
            <a:endParaRPr lang="en-US" sz="4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1923" y="2557557"/>
            <a:ext cx="3774647" cy="3745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33831" y="2153960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De CA a CC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8133831" y="2653189"/>
            <a:ext cx="5078735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red eléctrica suministra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230 V de corriente alterna (CA)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Los componentes del PC necesitan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corriente continua (CC)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tensiones de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3,3 V, 5 V y 12 V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133831" y="4017407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Fuentes conmutadas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8133831" y="4516636"/>
            <a:ext cx="5171203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fuentes para PC son de tipo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conmutado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trabajan a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50–60 kHz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lo que permite usar transformadores y condensadores muy compactos. Regulan la potencia mediante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PWM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(Pulse Width Modulation) en bucle cerrado.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133831" y="6476167"/>
            <a:ext cx="3810833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Ventaja frente a fuentes lineales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8133831" y="6975396"/>
            <a:ext cx="517120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Menor tamaño, menos calor y adaptación dinámica al consumo real del equipo.</a:t>
            </a:r>
            <a:endParaRPr lang="en-US" sz="155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F13CE96-6363-18A2-EB15-147EBFFA7700}"/>
              </a:ext>
            </a:extLst>
          </p:cNvPr>
          <p:cNvSpPr/>
          <p:nvPr/>
        </p:nvSpPr>
        <p:spPr>
          <a:xfrm>
            <a:off x="11311847" y="7582329"/>
            <a:ext cx="3233681" cy="513707"/>
          </a:xfrm>
          <a:prstGeom prst="rect">
            <a:avLst/>
          </a:prstGeom>
          <a:solidFill>
            <a:srgbClr val="FBFCFD"/>
          </a:solidFill>
          <a:ln>
            <a:solidFill>
              <a:srgbClr val="FBFC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98771"/>
            <a:ext cx="1231046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Proceso de Conversión: Lineal vs. Conmutada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576995"/>
            <a:ext cx="309181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Fuente lineal (Fig. 1–5)</a:t>
            </a:r>
            <a:endParaRPr lang="en-US" sz="2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204216"/>
            <a:ext cx="4587240" cy="9372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5396627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Transformador → Rectificación → Filtrado → Regulación → CC estable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2910007"/>
            <a:ext cx="4205168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Fuente conmutada para PC (Fig. 6)</a:t>
            </a:r>
            <a:endParaRPr lang="en-US" sz="2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8943" y="3909298"/>
            <a:ext cx="4205168" cy="1173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38943" y="5337929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Añade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filtrado transitorio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PFC activo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bucle PWM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 aislamiento óptico (optocoplador)</a:t>
            </a:r>
            <a:endParaRPr lang="en-US" sz="175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778973B-9770-5F60-6AEC-6880FA800EC5}"/>
              </a:ext>
            </a:extLst>
          </p:cNvPr>
          <p:cNvSpPr/>
          <p:nvPr/>
        </p:nvSpPr>
        <p:spPr>
          <a:xfrm>
            <a:off x="11311847" y="7582329"/>
            <a:ext cx="3233681" cy="513707"/>
          </a:xfrm>
          <a:prstGeom prst="rect">
            <a:avLst/>
          </a:prstGeom>
          <a:solidFill>
            <a:srgbClr val="FBFCFD"/>
          </a:solidFill>
          <a:ln>
            <a:solidFill>
              <a:srgbClr val="FBFC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1460" y="922496"/>
            <a:ext cx="5886331" cy="581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Calcular el Consumo del PC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1201460" y="1849874"/>
            <a:ext cx="2325767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Componentes clave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01460" y="2296239"/>
            <a:ext cx="2879527" cy="1838682"/>
          </a:xfrm>
          <a:prstGeom prst="roundRect">
            <a:avLst>
              <a:gd name="adj" fmla="val 4048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01485" y="2496264"/>
            <a:ext cx="2325767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CPU + Placa base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01485" y="2925247"/>
            <a:ext cx="2479477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40–140 W (CPU) + 35–100 W (placa). Un Core i7 con 2 DIMM ≈ </a:t>
            </a: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170 W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19337" y="2296239"/>
            <a:ext cx="2879646" cy="1838682"/>
          </a:xfrm>
          <a:prstGeom prst="roundRect">
            <a:avLst>
              <a:gd name="adj" fmla="val 4048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19362" y="2496264"/>
            <a:ext cx="2325767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Tarjeta gráfica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19362" y="2925247"/>
            <a:ext cx="2479596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W (básica) hasta </a:t>
            </a: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+300 W</a:t>
            </a: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(gama alta). Dos AMD Radeon HD 6990 ≈ 775 W totales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201460" y="4273272"/>
            <a:ext cx="5897523" cy="1333857"/>
          </a:xfrm>
          <a:prstGeom prst="roundRect">
            <a:avLst>
              <a:gd name="adj" fmla="val 558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01485" y="4473297"/>
            <a:ext cx="2385298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Resto de componentes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01485" y="4902279"/>
            <a:ext cx="549747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Discos, ventiladores, lectores, USB externos… pueden acercarse al </a:t>
            </a: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kilovatio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538799" y="1849874"/>
            <a:ext cx="3265884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Tabla de consumo aproximado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538799" y="2296239"/>
            <a:ext cx="5897523" cy="5218748"/>
          </a:xfrm>
          <a:prstGeom prst="roundRect">
            <a:avLst>
              <a:gd name="adj" fmla="val 142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546419" y="2303859"/>
            <a:ext cx="5882283" cy="43362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7723703" y="2394466"/>
            <a:ext cx="258294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Componente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0668595" y="2394466"/>
            <a:ext cx="258294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Vatios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7546419" y="2737485"/>
            <a:ext cx="5882283" cy="43362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7723703" y="2828092"/>
            <a:ext cx="258294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 Gulftown (6 núcleos)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0668595" y="2828092"/>
            <a:ext cx="258294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125 W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7546419" y="3171111"/>
            <a:ext cx="5882283" cy="43362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7723703" y="3261717"/>
            <a:ext cx="258294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AMD Thuban (6 núcleos)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0668595" y="3261717"/>
            <a:ext cx="258294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130 W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7546419" y="3604736"/>
            <a:ext cx="5882283" cy="43362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7723703" y="3695343"/>
            <a:ext cx="258294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Placa base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10668595" y="3695343"/>
            <a:ext cx="258294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 W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7546419" y="4038362"/>
            <a:ext cx="5882283" cy="43362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7723703" y="4128968"/>
            <a:ext cx="258294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AMD Radeon HD 5970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10668595" y="4128968"/>
            <a:ext cx="258294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294 W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7546419" y="4471988"/>
            <a:ext cx="5882283" cy="43362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7723703" y="4562594"/>
            <a:ext cx="258294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NVIDIA GTX 480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10668595" y="4562594"/>
            <a:ext cx="258294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250 W</a:t>
            </a:r>
            <a:endParaRPr lang="en-US" sz="1350" dirty="0"/>
          </a:p>
        </p:txBody>
      </p:sp>
      <p:sp>
        <p:nvSpPr>
          <p:cNvPr id="38" name="Shape 35"/>
          <p:cNvSpPr/>
          <p:nvPr/>
        </p:nvSpPr>
        <p:spPr>
          <a:xfrm>
            <a:off x="7546419" y="4905613"/>
            <a:ext cx="5882283" cy="43362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7723703" y="4996220"/>
            <a:ext cx="258294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Ventiladores (×5)</a:t>
            </a:r>
            <a:endParaRPr lang="en-US" sz="1350" dirty="0"/>
          </a:p>
        </p:txBody>
      </p:sp>
      <p:sp>
        <p:nvSpPr>
          <p:cNvPr id="40" name="Text 37"/>
          <p:cNvSpPr/>
          <p:nvPr/>
        </p:nvSpPr>
        <p:spPr>
          <a:xfrm>
            <a:off x="10668595" y="4996220"/>
            <a:ext cx="258294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W</a:t>
            </a:r>
            <a:endParaRPr lang="en-US" sz="1350" dirty="0"/>
          </a:p>
        </p:txBody>
      </p:sp>
      <p:sp>
        <p:nvSpPr>
          <p:cNvPr id="41" name="Shape 38"/>
          <p:cNvSpPr/>
          <p:nvPr/>
        </p:nvSpPr>
        <p:spPr>
          <a:xfrm>
            <a:off x="7546419" y="5339239"/>
            <a:ext cx="5882283" cy="43362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7723703" y="5429845"/>
            <a:ext cx="258294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 duro + óptico</a:t>
            </a:r>
            <a:endParaRPr lang="en-US" sz="1350" dirty="0"/>
          </a:p>
        </p:txBody>
      </p:sp>
      <p:sp>
        <p:nvSpPr>
          <p:cNvPr id="43" name="Text 40"/>
          <p:cNvSpPr/>
          <p:nvPr/>
        </p:nvSpPr>
        <p:spPr>
          <a:xfrm>
            <a:off x="10668595" y="5429845"/>
            <a:ext cx="258294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W</a:t>
            </a:r>
            <a:endParaRPr lang="en-US" sz="1350" dirty="0"/>
          </a:p>
        </p:txBody>
      </p:sp>
      <p:sp>
        <p:nvSpPr>
          <p:cNvPr id="44" name="Shape 41"/>
          <p:cNvSpPr/>
          <p:nvPr/>
        </p:nvSpPr>
        <p:spPr>
          <a:xfrm>
            <a:off x="7546419" y="5772864"/>
            <a:ext cx="5882283" cy="43362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7723703" y="5863471"/>
            <a:ext cx="258294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Overclocking CPU+GPU</a:t>
            </a:r>
            <a:endParaRPr lang="en-US" sz="1350" dirty="0"/>
          </a:p>
        </p:txBody>
      </p:sp>
      <p:sp>
        <p:nvSpPr>
          <p:cNvPr id="46" name="Text 43"/>
          <p:cNvSpPr/>
          <p:nvPr/>
        </p:nvSpPr>
        <p:spPr>
          <a:xfrm>
            <a:off x="10668595" y="5863471"/>
            <a:ext cx="258294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50–100 W</a:t>
            </a:r>
            <a:endParaRPr lang="en-US" sz="1350" dirty="0"/>
          </a:p>
        </p:txBody>
      </p:sp>
      <p:sp>
        <p:nvSpPr>
          <p:cNvPr id="47" name="Shape 44"/>
          <p:cNvSpPr/>
          <p:nvPr/>
        </p:nvSpPr>
        <p:spPr>
          <a:xfrm>
            <a:off x="7546419" y="6206490"/>
            <a:ext cx="5882283" cy="43362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7723703" y="6297097"/>
            <a:ext cx="258294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Subtotal</a:t>
            </a:r>
            <a:endParaRPr lang="en-US" sz="1350" dirty="0"/>
          </a:p>
        </p:txBody>
      </p:sp>
      <p:sp>
        <p:nvSpPr>
          <p:cNvPr id="49" name="Text 46"/>
          <p:cNvSpPr/>
          <p:nvPr/>
        </p:nvSpPr>
        <p:spPr>
          <a:xfrm>
            <a:off x="10668595" y="6297097"/>
            <a:ext cx="258294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590–689 W</a:t>
            </a:r>
            <a:endParaRPr lang="en-US" sz="1350" dirty="0"/>
          </a:p>
        </p:txBody>
      </p:sp>
      <p:sp>
        <p:nvSpPr>
          <p:cNvPr id="50" name="Shape 47"/>
          <p:cNvSpPr/>
          <p:nvPr/>
        </p:nvSpPr>
        <p:spPr>
          <a:xfrm>
            <a:off x="7546419" y="6640116"/>
            <a:ext cx="5882283" cy="43362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1" name="Text 48"/>
          <p:cNvSpPr/>
          <p:nvPr/>
        </p:nvSpPr>
        <p:spPr>
          <a:xfrm>
            <a:off x="7723703" y="6730722"/>
            <a:ext cx="258294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Corrección eficiencia (80%)</a:t>
            </a:r>
            <a:endParaRPr lang="en-US" sz="1350" dirty="0"/>
          </a:p>
        </p:txBody>
      </p:sp>
      <p:sp>
        <p:nvSpPr>
          <p:cNvPr id="52" name="Text 49"/>
          <p:cNvSpPr/>
          <p:nvPr/>
        </p:nvSpPr>
        <p:spPr>
          <a:xfrm>
            <a:off x="10668595" y="6730722"/>
            <a:ext cx="258294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+118–138 W</a:t>
            </a:r>
            <a:endParaRPr lang="en-US" sz="1350" dirty="0"/>
          </a:p>
        </p:txBody>
      </p:sp>
      <p:sp>
        <p:nvSpPr>
          <p:cNvPr id="53" name="Shape 50"/>
          <p:cNvSpPr/>
          <p:nvPr/>
        </p:nvSpPr>
        <p:spPr>
          <a:xfrm>
            <a:off x="7546419" y="7073741"/>
            <a:ext cx="5882283" cy="43362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4" name="Text 51"/>
          <p:cNvSpPr/>
          <p:nvPr/>
        </p:nvSpPr>
        <p:spPr>
          <a:xfrm>
            <a:off x="7723703" y="7164348"/>
            <a:ext cx="258294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recomendado</a:t>
            </a:r>
            <a:endParaRPr lang="en-US" sz="1350" dirty="0"/>
          </a:p>
        </p:txBody>
      </p:sp>
      <p:sp>
        <p:nvSpPr>
          <p:cNvPr id="55" name="Text 52"/>
          <p:cNvSpPr/>
          <p:nvPr/>
        </p:nvSpPr>
        <p:spPr>
          <a:xfrm>
            <a:off x="10668595" y="7164348"/>
            <a:ext cx="258294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750–850 W</a:t>
            </a:r>
            <a:endParaRPr lang="en-US" sz="1350" dirty="0"/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87961F6C-8978-8A5E-5654-DE6A46797F29}"/>
              </a:ext>
            </a:extLst>
          </p:cNvPr>
          <p:cNvSpPr/>
          <p:nvPr/>
        </p:nvSpPr>
        <p:spPr>
          <a:xfrm>
            <a:off x="11311847" y="7582329"/>
            <a:ext cx="3233681" cy="513707"/>
          </a:xfrm>
          <a:prstGeom prst="rect">
            <a:avLst/>
          </a:prstGeom>
          <a:solidFill>
            <a:srgbClr val="FBFCFD"/>
          </a:solidFill>
          <a:ln>
            <a:solidFill>
              <a:srgbClr val="FBFC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568291" y="846296"/>
            <a:ext cx="7039332" cy="546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La Fuente Idónea y Conectores ATX</a:t>
            </a:r>
            <a:endParaRPr lang="en-US" sz="3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291" y="1713905"/>
            <a:ext cx="7328654" cy="43318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10807" y="2319814"/>
            <a:ext cx="272510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Tres parámetros esenciales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310807" y="2641878"/>
            <a:ext cx="231636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Conectores principales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310807" y="3037403"/>
            <a:ext cx="3758684" cy="2481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pines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Alimentación principal de la placa base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4/8 pines CPU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Línea dedicada +12 V para el procesador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6/8 pines PCIe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Alimentación de la tarjeta gráfica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SATA 15 pines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Discos y unidades ópticas (3,3 V / 5 V / 12 V)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Molex 4 pines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Periféricos legacy (+5 V / +12 V)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742480" y="6494978"/>
            <a:ext cx="2186226" cy="280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⚡</a:t>
            </a:r>
            <a:r>
              <a:rPr lang="en-US" sz="1700" b="1" dirty="0">
                <a:solidFill>
                  <a:srgbClr val="272525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 Eficiencia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742480" y="6849189"/>
            <a:ext cx="3401258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mejores fuentes superan el </a:t>
            </a: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 al 50% de carga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(certificación 80 Plus)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614392" y="6494978"/>
            <a:ext cx="2186226" cy="280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🌡️</a:t>
            </a:r>
            <a:r>
              <a:rPr lang="en-US" sz="1700" b="1" dirty="0">
                <a:solidFill>
                  <a:srgbClr val="272525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 Calor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614392" y="6849189"/>
            <a:ext cx="3401378" cy="693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Mayor eficiencia = menos calor disipado. Ventiladores de velocidad variable o </a:t>
            </a: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modo fanless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 20% de carga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486424" y="6494978"/>
            <a:ext cx="2186226" cy="280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🔇</a:t>
            </a:r>
            <a:r>
              <a:rPr lang="en-US" sz="1700" b="1" dirty="0">
                <a:solidFill>
                  <a:srgbClr val="272525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 Ruido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486424" y="6849189"/>
            <a:ext cx="3401378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Diseño </a:t>
            </a: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o semi-modular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solo los cables necesarios, mejor flujo de aire</a:t>
            </a:r>
            <a:endParaRPr lang="en-US" sz="130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1C0CF6E-1BE6-4C3A-5CBC-F37FF00B3A0F}"/>
              </a:ext>
            </a:extLst>
          </p:cNvPr>
          <p:cNvSpPr/>
          <p:nvPr/>
        </p:nvSpPr>
        <p:spPr>
          <a:xfrm>
            <a:off x="11311847" y="7719299"/>
            <a:ext cx="3233681" cy="376737"/>
          </a:xfrm>
          <a:prstGeom prst="rect">
            <a:avLst/>
          </a:prstGeom>
          <a:solidFill>
            <a:srgbClr val="FBFCFD"/>
          </a:solidFill>
          <a:ln>
            <a:solidFill>
              <a:srgbClr val="FBFC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46014" y="853678"/>
            <a:ext cx="5882521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SAI: Tipos y Funcionamiento</a:t>
            </a:r>
            <a:endParaRPr lang="en-US" sz="3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014" y="1603177"/>
            <a:ext cx="3912751" cy="6804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16035" y="2411135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Offline (Standby)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616035" y="2766536"/>
            <a:ext cx="3572708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Inactivo hasta el corte. Conmutación en </a:t>
            </a: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pocos ms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Económico pero puede causar inestabilidad.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8765" y="1603177"/>
            <a:ext cx="3912751" cy="6804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28786" y="2411135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Interactivo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5528786" y="2766536"/>
            <a:ext cx="3572708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Conversor-inversor en funcionamiento continuo. </a:t>
            </a: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 más rápida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soporta micro-cortes.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1516" y="1603177"/>
            <a:ext cx="3912751" cy="68044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441537" y="2411135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Online (En línea)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9441537" y="2766536"/>
            <a:ext cx="3572708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Alimenta siempre desde baterías. </a:t>
            </a: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Aislamiento total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la red. Ideal para servidores críticos.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6014" y="4571881"/>
            <a:ext cx="4549140" cy="23698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353193" y="3921919"/>
            <a:ext cx="297322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Calcular la capacidad del SAI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9353193" y="4328398"/>
            <a:ext cx="383857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capacidad se mide en </a:t>
            </a: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voltios-amperios (VA)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Si no se especifican vatios, asume entre el </a:t>
            </a: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60–75 % del valor VA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Ejemplo: un SAI de 500 VA ≈ 300 W.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9353193" y="5395674"/>
            <a:ext cx="383857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</a:t>
            </a: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autonomía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indicada por el fabricante se calcula al </a:t>
            </a: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50 % de carga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 plena carga, el tiempo se reduce a la mitad.</a:t>
            </a:r>
            <a:endParaRPr lang="en-US" sz="1300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843188C-F045-42C0-FACF-572A5E4B4024}"/>
              </a:ext>
            </a:extLst>
          </p:cNvPr>
          <p:cNvSpPr/>
          <p:nvPr/>
        </p:nvSpPr>
        <p:spPr>
          <a:xfrm>
            <a:off x="11311847" y="7719299"/>
            <a:ext cx="3233681" cy="376737"/>
          </a:xfrm>
          <a:prstGeom prst="rect">
            <a:avLst/>
          </a:prstGeom>
          <a:solidFill>
            <a:srgbClr val="FBFCFD"/>
          </a:solidFill>
          <a:ln>
            <a:solidFill>
              <a:srgbClr val="FBFC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9677" y="409337"/>
            <a:ext cx="5139333" cy="488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Instalación y Gestión del SAI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677" y="1154073"/>
            <a:ext cx="2583180" cy="204216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9677" y="3306128"/>
            <a:ext cx="2804160" cy="440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099471" y="2393513"/>
            <a:ext cx="1953697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Buenas prácticas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9099471" y="2735342"/>
            <a:ext cx="3358753" cy="1679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Conectar el PC a las tomas </a:t>
            </a: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respaldo de batería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(no solo protección contra picos)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superar el </a:t>
            </a: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límite de consumo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del SAI; evitar ladrones con múltiples enchufes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Recargar baterías </a:t>
            </a: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h cada 4 semanas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períodos de inactividad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</a:t>
            </a: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80 % del peso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del SAI son sus baterías de plomo; sustituirlas con un técnico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9099471" y="4512826"/>
            <a:ext cx="3264456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Gestión por software (UPS Assistant)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9099471" y="4854654"/>
            <a:ext cx="3358753" cy="1679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Conexión </a:t>
            </a: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USB o RS232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monitorización en tiempo real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de carga de batería, temperatura y tiempo restante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Apagado/hibernación automáticos ante batería baja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Envío de </a:t>
            </a: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alertas por correo electrónico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 administrador</a:t>
            </a:r>
            <a:endParaRPr lang="en-US" sz="115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3605921-400A-8BD8-2985-7AD4F6DC65B8}"/>
              </a:ext>
            </a:extLst>
          </p:cNvPr>
          <p:cNvSpPr/>
          <p:nvPr/>
        </p:nvSpPr>
        <p:spPr>
          <a:xfrm>
            <a:off x="11311847" y="7582329"/>
            <a:ext cx="3233681" cy="513707"/>
          </a:xfrm>
          <a:prstGeom prst="rect">
            <a:avLst/>
          </a:prstGeom>
          <a:solidFill>
            <a:srgbClr val="FBFCFD"/>
          </a:solidFill>
          <a:ln>
            <a:solidFill>
              <a:srgbClr val="FBFC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956905" y="918567"/>
            <a:ext cx="6487001" cy="604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Mercado Actual y Tendencias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56905" y="1897380"/>
            <a:ext cx="35950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Comparativa de fuentes actuales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56905" y="2368153"/>
            <a:ext cx="6133386" cy="3691414"/>
          </a:xfrm>
          <a:prstGeom prst="roundRect">
            <a:avLst>
              <a:gd name="adj" fmla="val 209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8953" y="2473166"/>
            <a:ext cx="1157288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682240" y="2473166"/>
            <a:ext cx="1153478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Potencia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11717" y="2473166"/>
            <a:ext cx="1153478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Certificación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741194" y="2473166"/>
            <a:ext cx="1157288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Precio aprox.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148953" y="3209925"/>
            <a:ext cx="1157288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Básica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682240" y="3209925"/>
            <a:ext cx="1153478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400–550 W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211717" y="3209925"/>
            <a:ext cx="1153478" cy="80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 Plus White/Bronze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741194" y="3209925"/>
            <a:ext cx="1157288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30–60 €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48953" y="4213860"/>
            <a:ext cx="1157288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682240" y="4213860"/>
            <a:ext cx="1153478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650–750 W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211717" y="4213860"/>
            <a:ext cx="1153478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 Plus Gold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741194" y="4213860"/>
            <a:ext cx="1157288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70–120 €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48953" y="4683443"/>
            <a:ext cx="1157288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2682240" y="4683443"/>
            <a:ext cx="1153478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850–1000 W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211717" y="4683443"/>
            <a:ext cx="1153478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 Plus Platinum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741194" y="4683443"/>
            <a:ext cx="1157288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130–200 €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48953" y="5420201"/>
            <a:ext cx="1157288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Extrema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2682240" y="5420201"/>
            <a:ext cx="1153478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1200–1600 W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211717" y="5420201"/>
            <a:ext cx="1153478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 Plus Titanium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741194" y="5420201"/>
            <a:ext cx="1157288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200–400 €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956905" y="6227921"/>
            <a:ext cx="6133386" cy="956667"/>
          </a:xfrm>
          <a:prstGeom prst="roundRect">
            <a:avLst>
              <a:gd name="adj" fmla="val 8091"/>
            </a:avLst>
          </a:prstGeom>
          <a:solidFill>
            <a:srgbClr val="B3E5FF"/>
          </a:solidFill>
          <a:ln/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095" y="6494978"/>
            <a:ext cx="230267" cy="18419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555552" y="6423541"/>
            <a:ext cx="5350550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Referencia:</a:t>
            </a: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Corsair AX1200 — línea única +12V con </a:t>
            </a:r>
            <a:r>
              <a:rPr lang="en-US" sz="14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100,4 A</a:t>
            </a: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Seasonic, be quiet! y EVGA lideran en calidad.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7547491" y="1897380"/>
            <a:ext cx="266604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Tendencias y novedades</a:t>
            </a:r>
            <a:endParaRPr lang="en-US" sz="1900" dirty="0"/>
          </a:p>
        </p:txBody>
      </p:sp>
      <p:sp>
        <p:nvSpPr>
          <p:cNvPr id="31" name="Shape 28"/>
          <p:cNvSpPr/>
          <p:nvPr/>
        </p:nvSpPr>
        <p:spPr>
          <a:xfrm>
            <a:off x="7547491" y="2368153"/>
            <a:ext cx="2991803" cy="2504480"/>
          </a:xfrm>
          <a:prstGeom prst="roundRect">
            <a:avLst>
              <a:gd name="adj" fmla="val 438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524631" y="2368153"/>
            <a:ext cx="91440" cy="2504480"/>
          </a:xfrm>
          <a:prstGeom prst="roundRect">
            <a:avLst>
              <a:gd name="adj" fmla="val 84651"/>
            </a:avLst>
          </a:prstGeom>
          <a:solidFill>
            <a:srgbClr val="007EBD"/>
          </a:solidFill>
          <a:ln/>
        </p:spPr>
      </p:sp>
      <p:sp>
        <p:nvSpPr>
          <p:cNvPr id="33" name="Text 30"/>
          <p:cNvSpPr/>
          <p:nvPr/>
        </p:nvSpPr>
        <p:spPr>
          <a:xfrm>
            <a:off x="7823121" y="2575203"/>
            <a:ext cx="250912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Estándar ATX 3.0 / PCIe 5.0</a:t>
            </a:r>
            <a:endParaRPr lang="en-US" sz="1900" dirty="0"/>
          </a:p>
        </p:txBody>
      </p:sp>
      <p:sp>
        <p:nvSpPr>
          <p:cNvPr id="34" name="Text 31"/>
          <p:cNvSpPr/>
          <p:nvPr/>
        </p:nvSpPr>
        <p:spPr>
          <a:xfrm>
            <a:off x="7823121" y="3329702"/>
            <a:ext cx="2509123" cy="1335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Nuevo conector </a:t>
            </a: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12VHPWR de 16 pines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GPUs de hasta 600 W. Mayor estabilidad ante picos de consumo.</a:t>
            </a:r>
            <a:endParaRPr lang="en-US" sz="1450" dirty="0"/>
          </a:p>
        </p:txBody>
      </p:sp>
      <p:sp>
        <p:nvSpPr>
          <p:cNvPr id="35" name="Shape 32"/>
          <p:cNvSpPr/>
          <p:nvPr/>
        </p:nvSpPr>
        <p:spPr>
          <a:xfrm>
            <a:off x="10688955" y="2368153"/>
            <a:ext cx="2991922" cy="2504480"/>
          </a:xfrm>
          <a:prstGeom prst="roundRect">
            <a:avLst>
              <a:gd name="adj" fmla="val 438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0666095" y="2368153"/>
            <a:ext cx="91440" cy="2504480"/>
          </a:xfrm>
          <a:prstGeom prst="roundRect">
            <a:avLst>
              <a:gd name="adj" fmla="val 84651"/>
            </a:avLst>
          </a:prstGeom>
          <a:solidFill>
            <a:srgbClr val="007EBD"/>
          </a:solidFill>
          <a:ln/>
        </p:spPr>
      </p:sp>
      <p:sp>
        <p:nvSpPr>
          <p:cNvPr id="37" name="Text 34"/>
          <p:cNvSpPr/>
          <p:nvPr/>
        </p:nvSpPr>
        <p:spPr>
          <a:xfrm>
            <a:off x="10964585" y="2575203"/>
            <a:ext cx="250924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Eficiencia 80 Plus Titanium</a:t>
            </a:r>
            <a:endParaRPr lang="en-US" sz="1900" dirty="0"/>
          </a:p>
        </p:txBody>
      </p:sp>
      <p:sp>
        <p:nvSpPr>
          <p:cNvPr id="38" name="Text 35"/>
          <p:cNvSpPr/>
          <p:nvPr/>
        </p:nvSpPr>
        <p:spPr>
          <a:xfrm>
            <a:off x="10964585" y="3329702"/>
            <a:ext cx="2509242" cy="106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Rendimiento superior al </a:t>
            </a: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94 % a carga media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Reducción significativa de calor y factura eléctrica.</a:t>
            </a:r>
            <a:endParaRPr lang="en-US" sz="1450" dirty="0"/>
          </a:p>
        </p:txBody>
      </p:sp>
      <p:sp>
        <p:nvSpPr>
          <p:cNvPr id="39" name="Shape 36"/>
          <p:cNvSpPr/>
          <p:nvPr/>
        </p:nvSpPr>
        <p:spPr>
          <a:xfrm>
            <a:off x="7547491" y="5022294"/>
            <a:ext cx="2991803" cy="2504480"/>
          </a:xfrm>
          <a:prstGeom prst="roundRect">
            <a:avLst>
              <a:gd name="adj" fmla="val 438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524631" y="5022294"/>
            <a:ext cx="91440" cy="2504480"/>
          </a:xfrm>
          <a:prstGeom prst="roundRect">
            <a:avLst>
              <a:gd name="adj" fmla="val 84651"/>
            </a:avLst>
          </a:prstGeom>
          <a:solidFill>
            <a:srgbClr val="007EBD"/>
          </a:solidFill>
          <a:ln/>
        </p:spPr>
      </p:sp>
      <p:sp>
        <p:nvSpPr>
          <p:cNvPr id="41" name="Text 38"/>
          <p:cNvSpPr/>
          <p:nvPr/>
        </p:nvSpPr>
        <p:spPr>
          <a:xfrm>
            <a:off x="7823121" y="5229344"/>
            <a:ext cx="250912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Abadi" panose="020F0502020204030204" pitchFamily="34" charset="0"/>
                <a:ea typeface="Petrona Bold" pitchFamily="34" charset="-122"/>
                <a:cs typeface="Petrona Bold" pitchFamily="34" charset="-120"/>
              </a:rPr>
              <a:t>SAI con gestión inteligente</a:t>
            </a:r>
            <a:endParaRPr lang="en-US" sz="1900" dirty="0"/>
          </a:p>
        </p:txBody>
      </p:sp>
      <p:sp>
        <p:nvSpPr>
          <p:cNvPr id="42" name="Text 39"/>
          <p:cNvSpPr/>
          <p:nvPr/>
        </p:nvSpPr>
        <p:spPr>
          <a:xfrm>
            <a:off x="7823121" y="5983843"/>
            <a:ext cx="2509123" cy="1335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Integración con </a:t>
            </a: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redes IP, SNMP y apps móviles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Baterías de litio (LiFePO4) con mayor vida útil y menor peso.</a:t>
            </a:r>
            <a:endParaRPr lang="en-US" sz="1450" dirty="0"/>
          </a:p>
        </p:txBody>
      </p:sp>
      <p:sp>
        <p:nvSpPr>
          <p:cNvPr id="43" name="Shape 40"/>
          <p:cNvSpPr/>
          <p:nvPr/>
        </p:nvSpPr>
        <p:spPr>
          <a:xfrm>
            <a:off x="10688955" y="5022294"/>
            <a:ext cx="2991922" cy="2504480"/>
          </a:xfrm>
          <a:prstGeom prst="roundRect">
            <a:avLst>
              <a:gd name="adj" fmla="val 438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0666095" y="5022294"/>
            <a:ext cx="91440" cy="2504480"/>
          </a:xfrm>
          <a:prstGeom prst="roundRect">
            <a:avLst>
              <a:gd name="adj" fmla="val 84651"/>
            </a:avLst>
          </a:prstGeom>
          <a:solidFill>
            <a:srgbClr val="007EBD"/>
          </a:solidFill>
          <a:ln/>
        </p:spPr>
      </p:sp>
      <p:sp>
        <p:nvSpPr>
          <p:cNvPr id="45" name="Text 42"/>
          <p:cNvSpPr/>
          <p:nvPr/>
        </p:nvSpPr>
        <p:spPr>
          <a:xfrm>
            <a:off x="10964585" y="5229344"/>
            <a:ext cx="250924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Abadi" panose="020B0604020104020204" pitchFamily="34" charset="0"/>
                <a:ea typeface="Petrona Bold" pitchFamily="34" charset="-122"/>
                <a:cs typeface="Petrona Bold" pitchFamily="34" charset="-120"/>
              </a:rPr>
              <a:t>Fuentes fanless y semi-pasivas</a:t>
            </a:r>
            <a:endParaRPr lang="en-US" sz="1900" dirty="0"/>
          </a:p>
        </p:txBody>
      </p:sp>
      <p:sp>
        <p:nvSpPr>
          <p:cNvPr id="46" name="Text 43"/>
          <p:cNvSpPr/>
          <p:nvPr/>
        </p:nvSpPr>
        <p:spPr>
          <a:xfrm>
            <a:off x="10964585" y="5983843"/>
            <a:ext cx="2509242" cy="106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Cero ruido en cargas bajas. Tendencia hacia </a:t>
            </a: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diseños 100 % modulares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cables planos de bajo perfil.</a:t>
            </a:r>
            <a:endParaRPr lang="en-US" sz="1450" dirty="0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8B30D0C1-2106-12A8-FFBF-EA94929BD4A2}"/>
              </a:ext>
            </a:extLst>
          </p:cNvPr>
          <p:cNvSpPr/>
          <p:nvPr/>
        </p:nvSpPr>
        <p:spPr>
          <a:xfrm>
            <a:off x="11311847" y="7582329"/>
            <a:ext cx="3233681" cy="513707"/>
          </a:xfrm>
          <a:prstGeom prst="rect">
            <a:avLst/>
          </a:prstGeom>
          <a:solidFill>
            <a:srgbClr val="FBFCFD"/>
          </a:solidFill>
          <a:ln>
            <a:solidFill>
              <a:srgbClr val="FBFC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3737" y="518755"/>
            <a:ext cx="4806196" cy="56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Abadi" panose="020B0604020104020204" pitchFamily="34" charset="0"/>
                <a:ea typeface="Petrona Bold" pitchFamily="34" charset="-122"/>
                <a:cs typeface="Petrona Bold" pitchFamily="34" charset="-120"/>
              </a:rPr>
              <a:t>Bibliografía y Recursos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323737" y="1420892"/>
            <a:ext cx="2340412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Abadi" panose="020B0604020104020204" pitchFamily="34" charset="0"/>
                <a:ea typeface="Petrona Bold" pitchFamily="34" charset="-122"/>
                <a:cs typeface="Petrona Bold" pitchFamily="34" charset="-120"/>
              </a:rPr>
              <a:t>Fuentes documentales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1300877" y="1832372"/>
            <a:ext cx="45720" cy="1974533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5" name="Text 3"/>
          <p:cNvSpPr/>
          <p:nvPr/>
        </p:nvSpPr>
        <p:spPr>
          <a:xfrm>
            <a:off x="1543050" y="1855232"/>
            <a:ext cx="2279333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Abadi" panose="020B0604020104020204" pitchFamily="34" charset="0"/>
                <a:ea typeface="Petrona Bold" pitchFamily="34" charset="-122"/>
                <a:cs typeface="Petrona Bold" pitchFamily="34" charset="-120"/>
              </a:rPr>
              <a:t>Documento base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543050" y="2272903"/>
            <a:ext cx="2587347" cy="122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«Fuentes de alimentación y SAI»</a:t>
            </a: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Material didáctico del curso. Incluye diagramas de bloques, tablas de consumo y guías de montaje.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73629" y="1832372"/>
            <a:ext cx="45720" cy="1974533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8" name="Text 6"/>
          <p:cNvSpPr/>
          <p:nvPr/>
        </p:nvSpPr>
        <p:spPr>
          <a:xfrm>
            <a:off x="4515803" y="1855232"/>
            <a:ext cx="2587466" cy="569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Abadi" panose="020B0604020104020204" pitchFamily="34" charset="0"/>
                <a:ea typeface="Petrona Bold" pitchFamily="34" charset="-122"/>
                <a:cs typeface="Petrona Bold" pitchFamily="34" charset="-120"/>
              </a:rPr>
              <a:t>Documento complementario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4515803" y="2557701"/>
            <a:ext cx="2587466" cy="122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«SAIs»</a:t>
            </a: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Documento Word del curso con especificaciones técnicas e instalación de sistemas de alimentación ininterrumpida.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300877" y="4027051"/>
            <a:ext cx="45720" cy="1199198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1" name="Text 9"/>
          <p:cNvSpPr/>
          <p:nvPr/>
        </p:nvSpPr>
        <p:spPr>
          <a:xfrm>
            <a:off x="1543050" y="4049911"/>
            <a:ext cx="3300532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Abadi" panose="020B0604020104020204" pitchFamily="34" charset="0"/>
                <a:ea typeface="Petrona Bold" pitchFamily="34" charset="-122"/>
                <a:cs typeface="Petrona Bold" pitchFamily="34" charset="-120"/>
              </a:rPr>
              <a:t>Calculadora de consumo online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543050" y="4467582"/>
            <a:ext cx="5560219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u="sng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www.extreme.outervision.com</a:t>
            </a: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Herramienta PSU Calculator para estimar la fuente necesaria según los componentes instalados.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534513" y="1420892"/>
            <a:ext cx="3935016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Abadi" panose="020B0604020104020204" pitchFamily="34" charset="0"/>
                <a:ea typeface="Petrona Bold" pitchFamily="34" charset="-122"/>
                <a:cs typeface="Petrona Bold" pitchFamily="34" charset="-120"/>
              </a:rPr>
              <a:t>Herramientas y vídeos recomendados</a:t>
            </a:r>
            <a:endParaRPr lang="en-US" sz="17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9640" y="1860530"/>
            <a:ext cx="260390" cy="26039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098750" y="1855232"/>
            <a:ext cx="2279333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Abadi" panose="020B0604020104020204" pitchFamily="34" charset="0"/>
                <a:ea typeface="Petrona Bold" pitchFamily="34" charset="-122"/>
                <a:cs typeface="Petrona Bold" pitchFamily="34" charset="-120"/>
              </a:rPr>
              <a:t>PSUCalc (offline)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8098750" y="2272903"/>
            <a:ext cx="5215295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Utilidad local para calcular la fuente sin conexión. Requiere .NET Framework 4.</a:t>
            </a:r>
            <a:endParaRPr lang="en-US" sz="13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9640" y="3034605"/>
            <a:ext cx="260390" cy="26039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098750" y="3029307"/>
            <a:ext cx="2279333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Abadi" panose="020B0604020104020204" pitchFamily="34" charset="0"/>
                <a:ea typeface="Petrona Bold" pitchFamily="34" charset="-122"/>
                <a:cs typeface="Petrona Bold" pitchFamily="34" charset="-120"/>
              </a:rPr>
              <a:t>DriverMAX</a:t>
            </a:r>
            <a:endParaRPr lang="en-US" sz="1750" dirty="0"/>
          </a:p>
        </p:txBody>
      </p:sp>
      <p:sp>
        <p:nvSpPr>
          <p:cNvPr id="19" name="Text 15"/>
          <p:cNvSpPr/>
          <p:nvPr/>
        </p:nvSpPr>
        <p:spPr>
          <a:xfrm>
            <a:off x="8098750" y="3446978"/>
            <a:ext cx="5215295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y actualización de controladores de hardware en Windows 7/10/11.</a:t>
            </a:r>
            <a:endParaRPr lang="en-US" sz="13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9640" y="4208681"/>
            <a:ext cx="260390" cy="26039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98750" y="4203383"/>
            <a:ext cx="2279333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Abadi" panose="020B0604020104020204" pitchFamily="34" charset="0"/>
                <a:ea typeface="Petrona Bold" pitchFamily="34" charset="-122"/>
                <a:cs typeface="Petrona Bold" pitchFamily="34" charset="-120"/>
              </a:rPr>
              <a:t>UPS Assistant</a:t>
            </a:r>
            <a:endParaRPr lang="en-US" sz="1750" dirty="0"/>
          </a:p>
        </p:txBody>
      </p:sp>
      <p:sp>
        <p:nvSpPr>
          <p:cNvPr id="22" name="Text 17"/>
          <p:cNvSpPr/>
          <p:nvPr/>
        </p:nvSpPr>
        <p:spPr>
          <a:xfrm>
            <a:off x="8098750" y="4621054"/>
            <a:ext cx="5215295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de monitorización de SAI vía USB/COM. Alertas, logs y control de apagado automático.</a:t>
            </a:r>
            <a:endParaRPr lang="en-US" sz="135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9640" y="5382756"/>
            <a:ext cx="260390" cy="26039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098750" y="5377458"/>
            <a:ext cx="2279333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Abadi" panose="020B0604020104020204" pitchFamily="34" charset="0"/>
                <a:ea typeface="Petrona Bold" pitchFamily="34" charset="-122"/>
                <a:cs typeface="Petrona Bold" pitchFamily="34" charset="-120"/>
              </a:rPr>
              <a:t>SpeedFan</a:t>
            </a:r>
            <a:endParaRPr lang="en-US" sz="1750" dirty="0"/>
          </a:p>
        </p:txBody>
      </p:sp>
      <p:sp>
        <p:nvSpPr>
          <p:cNvPr id="25" name="Text 19"/>
          <p:cNvSpPr/>
          <p:nvPr/>
        </p:nvSpPr>
        <p:spPr>
          <a:xfrm>
            <a:off x="8098750" y="5795129"/>
            <a:ext cx="5215295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de temperaturas y velocidades de ventiladores. Esencial tras cambios de caja o refrigeración.</a:t>
            </a:r>
            <a:endParaRPr lang="en-US" sz="1350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F6C6620F-970D-B3E4-432E-216FA3680B49}"/>
              </a:ext>
            </a:extLst>
          </p:cNvPr>
          <p:cNvSpPr/>
          <p:nvPr/>
        </p:nvSpPr>
        <p:spPr>
          <a:xfrm>
            <a:off x="11311847" y="7582329"/>
            <a:ext cx="3233681" cy="513707"/>
          </a:xfrm>
          <a:prstGeom prst="rect">
            <a:avLst/>
          </a:prstGeom>
          <a:solidFill>
            <a:srgbClr val="FBFCFD"/>
          </a:solidFill>
          <a:ln>
            <a:solidFill>
              <a:srgbClr val="FBFC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1108</Words>
  <Application>Microsoft Office PowerPoint</Application>
  <PresentationFormat>Personalizado</PresentationFormat>
  <Paragraphs>158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Inter</vt:lpstr>
      <vt:lpstr>Abadi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ASIR1-21</dc:creator>
  <cp:lastModifiedBy>ASIR1-21</cp:lastModifiedBy>
  <cp:revision>5</cp:revision>
  <dcterms:created xsi:type="dcterms:W3CDTF">2026-04-13T10:28:18Z</dcterms:created>
  <dcterms:modified xsi:type="dcterms:W3CDTF">2026-04-13T10:36:20Z</dcterms:modified>
</cp:coreProperties>
</file>